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498079" y="-73152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0292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731520" y="566928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7BC62"/>
                </a:solidFill>
                <a:latin typeface="Calibri"/>
              </a:rPr>
              <a:t>APS UNIP 2026/1  -  LPOO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0" b="1">
                <a:solidFill>
                  <a:srgbClr val="FFFFFF"/>
                </a:solidFill>
                <a:latin typeface="Calibri"/>
              </a:rPr>
              <a:t>EcoCity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004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AD18A"/>
                </a:solidFill>
                <a:latin typeface="Calibri"/>
              </a:rPr>
              <a:t>RPG Textual em Java  -  Conscientizacao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94760"/>
            <a:ext cx="822960" cy="457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023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8DAC0"/>
                </a:solidFill>
                <a:latin typeface="Calibri"/>
              </a:rPr>
              <a:t>Universidade Paulista  -  Ciencia da Computacao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434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BB0A0"/>
                </a:solidFill>
                <a:latin typeface="Calibri"/>
              </a:rPr>
              <a:t>Orientador: Prof. Carlos Baltazar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GRUPO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4924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Alessandra Cristina da Silva Souza  -  R799565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Caetano de Paula Telles Ribeiro     -  R688GC4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Jhonnatan Pereira Santos            -  R363JH0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Guilherme Moraes Franco             -  H386632</a:t>
            </a:r>
          </a:p>
          <a:p>
            <a:pPr algn="l"/>
            <a:r>
              <a:rPr sz="1150" b="0">
                <a:solidFill>
                  <a:srgbClr val="FFFFFF"/>
                </a:solidFill>
                <a:latin typeface="Consolas"/>
              </a:rPr>
              <a:t>Gabriel Moraes Franco               -  H384338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NAVEGACAO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Sumario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745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Objetivo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56032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Introducao e Tema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29184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375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Enredo do Jogo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23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069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Tecnologias Utilizadas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75488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800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Conceitos de O.O. Aplicados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0" y="182880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1828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18745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Arquitetura do Codigo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0" y="256032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25603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26060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Hierarquia de Classes</a:t>
            </a:r>
          </a:p>
        </p:txBody>
      </p:sp>
      <p:sp>
        <p:nvSpPr>
          <p:cNvPr id="26" name="Oval 25"/>
          <p:cNvSpPr/>
          <p:nvPr/>
        </p:nvSpPr>
        <p:spPr>
          <a:xfrm>
            <a:off x="5029200" y="329184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329184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33375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Niveis, Missoes e Pontuacao</a:t>
            </a:r>
          </a:p>
        </p:txBody>
      </p:sp>
      <p:sp>
        <p:nvSpPr>
          <p:cNvPr id="29" name="Oval 28"/>
          <p:cNvSpPr/>
          <p:nvPr/>
        </p:nvSpPr>
        <p:spPr>
          <a:xfrm>
            <a:off x="5029200" y="402336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40233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4069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Demonstracao do Jogo</a:t>
            </a:r>
          </a:p>
        </p:txBody>
      </p:sp>
      <p:sp>
        <p:nvSpPr>
          <p:cNvPr id="32" name="Oval 31"/>
          <p:cNvSpPr/>
          <p:nvPr/>
        </p:nvSpPr>
        <p:spPr>
          <a:xfrm>
            <a:off x="5029200" y="4754880"/>
            <a:ext cx="457200" cy="4572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47548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4800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B1D"/>
                </a:solidFill>
                <a:latin typeface="Calibri"/>
              </a:rPr>
              <a:t>Entrega e Conclusao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Objetivo do Projeto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931920" cy="411480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7BC62"/>
                </a:solidFill>
                <a:latin typeface="Calibri"/>
              </a:rPr>
              <a:t>META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3657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Aplicar Programacao Orientada a Objetos no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desenvolvimento de um RPG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textual em Java,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57200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AD18A"/>
                </a:solidFill>
                <a:latin typeface="Calibri"/>
              </a:rPr>
              <a:t>promovendo a conscientizacao</a:t>
            </a:r>
          </a:p>
          <a:p>
            <a:pPr algn="l"/>
            <a:r>
              <a:rPr sz="1600" b="0">
                <a:solidFill>
                  <a:srgbClr val="6AD18A"/>
                </a:solidFill>
                <a:latin typeface="Calibri"/>
              </a:rPr>
              <a:t>ambiental atraves de</a:t>
            </a:r>
          </a:p>
          <a:p>
            <a:pPr algn="l"/>
            <a:r>
              <a:rPr sz="1600" b="0">
                <a:solidFill>
                  <a:srgbClr val="6AD18A"/>
                </a:solidFill>
                <a:latin typeface="Calibri"/>
              </a:rPr>
              <a:t>mecanicas de jogo (gamificacao).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874519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ENTREGAS TECNICAS</a:t>
            </a:r>
          </a:p>
        </p:txBody>
      </p:sp>
      <p:sp>
        <p:nvSpPr>
          <p:cNvPr id="10" name="Oval 9"/>
          <p:cNvSpPr/>
          <p:nvPr/>
        </p:nvSpPr>
        <p:spPr>
          <a:xfrm>
            <a:off x="5120640" y="249631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331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RPG textual rodando no console</a:t>
            </a:r>
          </a:p>
        </p:txBody>
      </p:sp>
      <p:sp>
        <p:nvSpPr>
          <p:cNvPr id="12" name="Oval 11"/>
          <p:cNvSpPr/>
          <p:nvPr/>
        </p:nvSpPr>
        <p:spPr>
          <a:xfrm>
            <a:off x="5120640" y="304495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880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5 niveis de evolucao do personagem</a:t>
            </a:r>
          </a:p>
        </p:txBody>
      </p:sp>
      <p:sp>
        <p:nvSpPr>
          <p:cNvPr id="14" name="Oval 13"/>
          <p:cNvSpPr/>
          <p:nvPr/>
        </p:nvSpPr>
        <p:spPr>
          <a:xfrm>
            <a:off x="5120640" y="359359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429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15 missoes ecologicas tematicas</a:t>
            </a:r>
          </a:p>
        </p:txBody>
      </p:sp>
      <p:sp>
        <p:nvSpPr>
          <p:cNvPr id="16" name="Oval 15"/>
          <p:cNvSpPr/>
          <p:nvPr/>
        </p:nvSpPr>
        <p:spPr>
          <a:xfrm>
            <a:off x="5120640" y="4142231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97763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Sistema de pontuacao com bonus</a:t>
            </a:r>
          </a:p>
        </p:txBody>
      </p:sp>
      <p:sp>
        <p:nvSpPr>
          <p:cNvPr id="18" name="Oval 17"/>
          <p:cNvSpPr/>
          <p:nvPr/>
        </p:nvSpPr>
        <p:spPr>
          <a:xfrm>
            <a:off x="5120640" y="4690871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452627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9 conceitos de O.O. aplicados</a:t>
            </a:r>
          </a:p>
        </p:txBody>
      </p:sp>
      <p:sp>
        <p:nvSpPr>
          <p:cNvPr id="20" name="Oval 19"/>
          <p:cNvSpPr/>
          <p:nvPr/>
        </p:nvSpPr>
        <p:spPr>
          <a:xfrm>
            <a:off x="5120640" y="5239512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5074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Tratamento de excecoes (try-catch)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Introducao e 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C5F2D"/>
                </a:solidFill>
                <a:latin typeface="Calibri"/>
              </a:rPr>
              <a:t>Tecnologia como ferramenta de educacao ambiental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Os jogos digitais deixaram de ser apenas entretenimento e passaram a desempenhar papel relevante na educacao e na sociedade.</a:t>
            </a:r>
          </a:p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1B2B1D"/>
                </a:solidFill>
                <a:latin typeface="Calibri"/>
              </a:rPr>
              <a:t>Segundo Piaget (1978), os jogos sao fundamentais no desenvolvimento cognitivo - a aprendizagem ocorre por meio da experimentacao e da construcao ativa do conhecimento.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663440"/>
            <a:ext cx="777240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>
                <a:solidFill>
                  <a:srgbClr val="97BC62"/>
                </a:solidFill>
                <a:latin typeface="Georgia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89204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B2B1D"/>
                </a:solidFill>
                <a:latin typeface="Calibri"/>
              </a:rPr>
              <a:t>O EcoCity nasce dessa premissa: um RPG em Java que une</a:t>
            </a:r>
          </a:p>
          <a:p>
            <a:pPr algn="l"/>
            <a:r>
              <a:rPr sz="1400" b="1">
                <a:solidFill>
                  <a:srgbClr val="1B2B1D"/>
                </a:solidFill>
                <a:latin typeface="Calibri"/>
              </a:rPr>
              <a:t>POO, narrativa ambiental e gamificacao em uma unica experiencia.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Enredo do Jogo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7772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A historia se passa em uma cidade devastada pela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poluicao, pelo desmatamento e por conflitos ambientais.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C8DAC0"/>
                </a:solidFill>
                <a:latin typeface="Calibri"/>
              </a:rPr>
              <a:t>O jogador deve cumprir missoes ecologicas para restaurar o</a:t>
            </a:r>
          </a:p>
          <a:p>
            <a:pPr algn="l"/>
            <a:r>
              <a:rPr sz="1500" b="0">
                <a:solidFill>
                  <a:srgbClr val="C8DAC0"/>
                </a:solidFill>
                <a:latin typeface="Calibri"/>
              </a:rPr>
              <a:t>equilibrio ambiental, evoluindo progressivamente do nivel</a:t>
            </a:r>
          </a:p>
          <a:p>
            <a:pPr algn="l"/>
            <a:r>
              <a:rPr sz="1500" b="0">
                <a:solidFill>
                  <a:srgbClr val="C8DAC0"/>
                </a:solidFill>
                <a:latin typeface="Calibri"/>
              </a:rPr>
              <a:t>1 (Explorador) ate alcancar o titulo de Guardiao da Natureza.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Explorador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Descontaminador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6908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Botanico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Construtor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54406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6AD18A"/>
                </a:solidFill>
                <a:latin typeface="Calibri"/>
              </a:rPr>
              <a:t>&gt;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5212080"/>
            <a:ext cx="146304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60920" y="528523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Nivel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55321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Guardiao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BB0A0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BB0A0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Tecnologias Utilizadas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2103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94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Java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80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Linguagem orientada a objetos. JDK Microsoft OpenJDK 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828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846320" y="2103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103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2194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Console / Terminal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Interface textual. Encoding UTF-8, escape ANSI para limpar tela.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14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389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389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Git +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166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Versionamento e hospedagem do codigo-fonte do projeto.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411480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46320" y="4389120"/>
            <a:ext cx="548640" cy="5486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389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2C5F2D"/>
                </a:solidFill>
                <a:latin typeface="Calibri"/>
              </a:rPr>
              <a:t>Markdown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166360"/>
            <a:ext cx="3383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B2B1D"/>
                </a:solidFill>
                <a:latin typeface="Calibri"/>
              </a:rPr>
              <a:t>Documentacao tecnica: README, TUTORIAL e relatorio.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Conceitos de O.O. Aplicados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C71"/>
                </a:solidFill>
                <a:latin typeface="Calibri"/>
              </a:rPr>
              <a:t>Os 9 conceitos exigidos pela disciplina, marcados com comentarios no codigo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27432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64592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1947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Encapsulamento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3317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B2B1D"/>
                </a:solidFill>
                <a:latin typeface="Calibri"/>
              </a:rPr>
              <a:t>Atributos private + getters/setters em todas as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1783080"/>
            <a:ext cx="27432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03320" y="1783080"/>
            <a:ext cx="164592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95928" y="1947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Construtores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95928" y="23317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B2B1D"/>
                </a:solidFill>
                <a:latin typeface="Calibri"/>
              </a:rPr>
              <a:t>Em todas as classes; com sobrecarga para pontos iniciais.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1783080"/>
            <a:ext cx="27432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29400" y="1783080"/>
            <a:ext cx="164592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22008" y="19476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Heranca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233172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B2B1D"/>
                </a:solidFill>
                <a:latin typeface="Calibri"/>
              </a:rPr>
              <a:t>5 subclasses extends Personagem (abstrata).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337560"/>
            <a:ext cx="27432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3337560"/>
            <a:ext cx="164592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35021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Sobrecarga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3886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B2B1D"/>
                </a:solidFill>
                <a:latin typeface="Calibri"/>
              </a:rPr>
              <a:t>Personagem(2 forms); Pontuacao.calcular() em 2 versoes.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3337560"/>
            <a:ext cx="27432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03320" y="3337560"/>
            <a:ext cx="164592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5928" y="35021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Sobrescrita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95928" y="3886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B2B1D"/>
                </a:solidFill>
                <a:latin typeface="Calibri"/>
              </a:rPr>
              <a:t>@Override em getTitulo() e getClasseIdeal() das subclasses.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3337560"/>
            <a:ext cx="27432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3337560"/>
            <a:ext cx="164592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2008" y="35021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Classe Abstrata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3886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B2B1D"/>
                </a:solidFill>
                <a:latin typeface="Calibri"/>
              </a:rPr>
              <a:t>Personagem - molde dos 5 niveis.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892040"/>
            <a:ext cx="27432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892040"/>
            <a:ext cx="164592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9848" y="50566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Metodo Abstrato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" y="544068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B2B1D"/>
                </a:solidFill>
                <a:latin typeface="Calibri"/>
              </a:rPr>
              <a:t>getTitulo() e getClasseIdeal() implementados pelas subs.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4892040"/>
            <a:ext cx="27432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03320" y="4892040"/>
            <a:ext cx="164592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95928" y="50566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Interface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95928" y="544068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B2B1D"/>
                </a:solidFill>
                <a:latin typeface="Calibri"/>
              </a:rPr>
              <a:t>Missao - contrato implementado por MissaoEcologica.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29400" y="4892040"/>
            <a:ext cx="27432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29400" y="4892040"/>
            <a:ext cx="164592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22008" y="505663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5F2D"/>
                </a:solidFill>
                <a:latin typeface="Calibri"/>
              </a:rPr>
              <a:t>Tratamento Excecao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2008" y="544068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B2B1D"/>
                </a:solidFill>
                <a:latin typeface="Calibri"/>
              </a:rPr>
              <a:t>try-catch + EntradaInvalidaException customizada.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Arquitetura do Codigo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Pacote principal: guardiao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7498079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713232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src/guardiao/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Main.java                            entrada + menu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ui/Terminal.java                     limpa tela + ENTER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personagens/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Personagem.java                    CLASSE ABSTRATA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Explorador.java                    nivel 1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Descontaminador.java               nivel 2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Botanico.java                      nivel 3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Construtor.java                    nivel 4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Guardiao.java                      nivel 5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missoes/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Missao.java                        INTERFACE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MissaoEcologica.java               implementacao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npc/NPC.java                         entrega missao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sistema/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Jogo.java                          orquestra 5 niveis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  Pontuacao.java                     calcula pontos</a:t>
            </a:r>
          </a:p>
          <a:p>
            <a:pPr algn="l"/>
            <a:r>
              <a:rPr sz="1100" b="0">
                <a:solidFill>
                  <a:srgbClr val="1B2B1D"/>
                </a:solidFill>
                <a:latin typeface="Consolas"/>
              </a:rPr>
              <a:t>  excecoes/EntradaInvalidaException.java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Hierarquia de Classes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737360"/>
            <a:ext cx="2560320" cy="73152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abstract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Personagem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383280"/>
            <a:ext cx="1554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4564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7BC62"/>
                </a:solidFill>
                <a:latin typeface="Calibri"/>
              </a:rPr>
              <a:t>nivel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B2B1D"/>
                </a:solidFill>
                <a:latin typeface="Calibri"/>
              </a:rPr>
              <a:t>Explorador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234440" y="2468880"/>
            <a:ext cx="3337560" cy="914400"/>
          </a:xfrm>
          <a:prstGeom prst="line">
            <a:avLst/>
          </a:prstGeom>
          <a:ln w="15240">
            <a:solidFill>
              <a:srgbClr val="97BC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48840" y="3383280"/>
            <a:ext cx="1554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34564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7BC62"/>
                </a:solidFill>
                <a:latin typeface="Calibri"/>
              </a:rPr>
              <a:t>nivel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65760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B2B1D"/>
                </a:solidFill>
                <a:latin typeface="Calibri"/>
              </a:rPr>
              <a:t>Descontamina-</a:t>
            </a:r>
          </a:p>
          <a:p>
            <a:pPr algn="ctr"/>
            <a:r>
              <a:rPr sz="1100" b="1">
                <a:solidFill>
                  <a:srgbClr val="1B2B1D"/>
                </a:solidFill>
                <a:latin typeface="Calibri"/>
              </a:rPr>
              <a:t>dor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926080" y="2468880"/>
            <a:ext cx="1645920" cy="914400"/>
          </a:xfrm>
          <a:prstGeom prst="line">
            <a:avLst/>
          </a:prstGeom>
          <a:ln w="15240">
            <a:solidFill>
              <a:srgbClr val="97BC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40480" y="3383280"/>
            <a:ext cx="1554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34564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7BC62"/>
                </a:solidFill>
                <a:latin typeface="Calibri"/>
              </a:rPr>
              <a:t>nivel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65760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B2B1D"/>
                </a:solidFill>
                <a:latin typeface="Calibri"/>
              </a:rPr>
              <a:t>Botanico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2468880"/>
            <a:ext cx="45720" cy="914400"/>
          </a:xfrm>
          <a:prstGeom prst="line">
            <a:avLst/>
          </a:prstGeom>
          <a:ln w="15240">
            <a:solidFill>
              <a:srgbClr val="97BC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532120" y="3383280"/>
            <a:ext cx="1554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34564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7BC62"/>
                </a:solidFill>
                <a:latin typeface="Calibri"/>
              </a:rPr>
              <a:t>nivel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365760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B2B1D"/>
                </a:solidFill>
                <a:latin typeface="Calibri"/>
              </a:rPr>
              <a:t>Construtor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2000" y="2468880"/>
            <a:ext cx="1737360" cy="914400"/>
          </a:xfrm>
          <a:prstGeom prst="line">
            <a:avLst/>
          </a:prstGeom>
          <a:ln w="15240">
            <a:solidFill>
              <a:srgbClr val="97BC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223760" y="3383280"/>
            <a:ext cx="15544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4564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7BC62"/>
                </a:solidFill>
                <a:latin typeface="Calibri"/>
              </a:rPr>
              <a:t>nivel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65760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B2B1D"/>
                </a:solidFill>
                <a:latin typeface="Calibri"/>
              </a:rPr>
              <a:t>Guardiao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2468880"/>
            <a:ext cx="3429000" cy="914400"/>
          </a:xfrm>
          <a:prstGeom prst="line">
            <a:avLst/>
          </a:prstGeom>
          <a:ln w="15240">
            <a:solidFill>
              <a:srgbClr val="97BC6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4937760"/>
            <a:ext cx="36576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029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E0B23A"/>
                </a:solidFill>
                <a:latin typeface="Calibri"/>
              </a:rPr>
              <a:t>interface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2578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B2B1D"/>
                </a:solidFill>
                <a:latin typeface="Calibri"/>
              </a:rPr>
              <a:t>Missao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434840" y="5394960"/>
            <a:ext cx="274320" cy="0"/>
          </a:xfrm>
          <a:prstGeom prst="line">
            <a:avLst/>
          </a:prstGeom>
          <a:ln w="19050">
            <a:solidFill>
              <a:srgbClr val="E0B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09160" y="4937760"/>
            <a:ext cx="36576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5029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implements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9160" y="52578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B2B1D"/>
                </a:solidFill>
                <a:latin typeface="Calibri"/>
              </a:rPr>
              <a:t>MissaoEcologica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Niveis, NPCs e Missoes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C5F2D"/>
                </a:solidFill>
                <a:latin typeface="Calibri"/>
              </a:rPr>
              <a:t>Nivel N tem N NPCs e N missoes - 1 missao por NPC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68880"/>
            <a:ext cx="914400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2468880"/>
            <a:ext cx="2377440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468880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Classe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2468880"/>
            <a:ext cx="914400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246888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NPCs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83480" y="2468880"/>
            <a:ext cx="1097280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2468880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Missoes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468880"/>
            <a:ext cx="1463040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Pontos Max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971800"/>
            <a:ext cx="914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71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2C5F2D"/>
                </a:solidFill>
                <a:latin typeface="Calibri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971800"/>
            <a:ext cx="2377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29718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Explorador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2971800"/>
            <a:ext cx="914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971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2971800"/>
            <a:ext cx="10972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83480" y="29718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2971800"/>
            <a:ext cx="1463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297180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175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429000"/>
            <a:ext cx="91440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429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2C5F2D"/>
                </a:solidFill>
                <a:latin typeface="Calibri"/>
              </a:rP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91640" y="3429000"/>
            <a:ext cx="237744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91640" y="34290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Descontaminador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9080" y="3429000"/>
            <a:ext cx="91440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69080" y="3429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83480" y="3429000"/>
            <a:ext cx="109728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34290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429000"/>
            <a:ext cx="146304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342900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300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3886200"/>
            <a:ext cx="914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38862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2C5F2D"/>
                </a:solidFill>
                <a:latin typeface="Calibri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91640" y="3886200"/>
            <a:ext cx="2377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1640" y="38862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Botanico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80" y="3886200"/>
            <a:ext cx="914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69080" y="38862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83480" y="3886200"/>
            <a:ext cx="10972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83480" y="38862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3886200"/>
            <a:ext cx="1463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388620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425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4343400"/>
            <a:ext cx="91440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4343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2C5F2D"/>
                </a:solidFill>
                <a:latin typeface="Calibri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4343400"/>
            <a:ext cx="237744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91640" y="43434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Construtor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69080" y="4343400"/>
            <a:ext cx="91440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69080" y="4343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83480" y="4343400"/>
            <a:ext cx="109728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83480" y="43434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60" y="4343400"/>
            <a:ext cx="1463040" cy="457200"/>
          </a:xfrm>
          <a:prstGeom prst="rect">
            <a:avLst/>
          </a:prstGeom>
          <a:solidFill>
            <a:srgbClr val="EFF4EC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80760" y="434340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550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7240" y="4800600"/>
            <a:ext cx="914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48006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2C5F2D"/>
                </a:solidFill>
                <a:latin typeface="Calibri"/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91640" y="4800600"/>
            <a:ext cx="2377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691640" y="48006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Guardiao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69080" y="4800600"/>
            <a:ext cx="9144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9080" y="48006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983480" y="4800600"/>
            <a:ext cx="10972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983480" y="48006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80760" y="4800600"/>
            <a:ext cx="14630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80760" y="480060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675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77240" y="5486400"/>
            <a:ext cx="758952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5840" y="548640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TOTAL: 15 missoes  |  15 NPCs  |  Pontuacao maxima: 7.625 pontos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08.1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Sistema de Pontuacao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26060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C5F2D"/>
                </a:solidFill>
                <a:latin typeface="Calibri"/>
              </a:rPr>
              <a:t>Pontuacao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606040"/>
            <a:ext cx="2148840" cy="77724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0604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6AD18A"/>
                </a:solidFill>
                <a:latin typeface="Consolas"/>
              </a:rPr>
              <a:t>nivel x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Cresce com a dificuldade. Nivel 1 = 100 / Nivel 5 = 500.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6060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011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C5F2D"/>
                </a:solidFill>
                <a:latin typeface="Calibri"/>
              </a:rPr>
              <a:t>Bonus Eficiencia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2606040"/>
            <a:ext cx="2148840" cy="77724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60604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6AD18A"/>
                </a:solidFill>
                <a:latin typeface="Consolas"/>
              </a:rPr>
              <a:t>+ 50 pontos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56616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Concedido quando a missao e cumprida dentro do limite de turnos.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79" y="1828800"/>
            <a:ext cx="260604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201168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C5F2D"/>
                </a:solidFill>
                <a:latin typeface="Calibri"/>
              </a:rPr>
              <a:t>Bonus Classe Ideal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79" y="2606040"/>
            <a:ext cx="2148840" cy="77724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2606040"/>
            <a:ext cx="2148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6AD18A"/>
                </a:solidFill>
                <a:latin typeface="Consolas"/>
              </a:rPr>
              <a:t>nivel x 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56616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B2B1D"/>
                </a:solidFill>
                <a:latin typeface="Calibri"/>
              </a:rPr>
              <a:t>Quando o jogador usa a classe adequada para a missao.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349240"/>
            <a:ext cx="7589520" cy="86868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349240"/>
            <a:ext cx="73152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Total da missao  =  (nivel x 100)  +  bonus eficiencia  +  bonus classe ideal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08.2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NPCs e Missoes Tematicas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C71"/>
                </a:solidFill>
                <a:latin typeface="Calibri"/>
              </a:rPr>
              <a:t>NPCs entregam missoes de forma direta e mecanica (sem dialogos longos)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75895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64592" cy="6858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3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Nivel 1 - Explorador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5176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Encontrar uma semente rara e planta-la num terreno baldio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108960"/>
            <a:ext cx="75895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108960"/>
            <a:ext cx="164592" cy="6858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15467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Nivel 2 - Descontaminador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42900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Despoluir o rio central  |  Filtrar o ar toxico da praca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86200"/>
            <a:ext cx="75895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886200"/>
            <a:ext cx="164592" cy="6858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931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Nivel 3 - Botanico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0624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Replantar mata ciliar  |  Horta comunitaria  |  Recuperar especies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663440"/>
            <a:ext cx="75895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663440"/>
            <a:ext cx="164592" cy="6858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70915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Nivel 4 - Construtor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983479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Parque urbano  |  Paineis solares  |  Captacao de chuva  |  Corredor verde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440679"/>
            <a:ext cx="75895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440679"/>
            <a:ext cx="164592" cy="6858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48639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Nivel 5 - Guardiao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760719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B2B1D"/>
                </a:solidFill>
                <a:latin typeface="Calibri"/>
              </a:rPr>
              <a:t>Reserva central  |  Reflorestar  |  Despoluir lago  |  Selar poluicao  |  Santuario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Fluxo de Telas (avanca com ENTER)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C71"/>
                </a:solidFill>
                <a:latin typeface="Calibri"/>
              </a:rPr>
              <a:t>Cada tela e limpa antes da proxima - imersao tipo console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73736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Enredo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46888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25603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E7C71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B1D"/>
                </a:solidFill>
                <a:latin typeface="Calibri"/>
              </a:rPr>
              <a:t>Criacao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246888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5603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E7C71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78892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B1D"/>
                </a:solidFill>
                <a:latin typeface="Calibri"/>
              </a:rPr>
              <a:t>Nivel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46888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5603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E7C71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78892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B1D"/>
                </a:solidFill>
                <a:latin typeface="Calibri"/>
              </a:rPr>
              <a:t>Nivel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02336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1148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E7C71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34340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B1D"/>
                </a:solidFill>
                <a:latin typeface="Calibri"/>
              </a:rPr>
              <a:t>Nivel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09160" y="402336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41148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E7C71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34340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B1D"/>
                </a:solidFill>
                <a:latin typeface="Calibri"/>
              </a:rPr>
              <a:t>Nivel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4023360"/>
            <a:ext cx="17373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0" y="41148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E7C71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34340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B1D"/>
                </a:solidFill>
                <a:latin typeface="Calibri"/>
              </a:rPr>
              <a:t>Nivel 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023360"/>
            <a:ext cx="1737360" cy="82296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1148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7BC62"/>
                </a:solidFill>
                <a:latin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34340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Final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560320" y="2880360"/>
            <a:ext cx="137160" cy="0"/>
          </a:xfrm>
          <a:prstGeom prst="bentConnector3">
            <a:avLst/>
          </a:prstGeom>
          <a:ln w="25400">
            <a:solidFill>
              <a:srgbClr val="2C5F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526280" y="2880360"/>
            <a:ext cx="137160" cy="0"/>
          </a:xfrm>
          <a:prstGeom prst="bentConnector3">
            <a:avLst/>
          </a:prstGeom>
          <a:ln w="25400">
            <a:solidFill>
              <a:srgbClr val="2C5F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492240" y="2880360"/>
            <a:ext cx="137159" cy="0"/>
          </a:xfrm>
          <a:prstGeom prst="bentConnector3">
            <a:avLst/>
          </a:prstGeom>
          <a:ln w="25400">
            <a:solidFill>
              <a:srgbClr val="2C5F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229600" y="3291840"/>
            <a:ext cx="0" cy="731520"/>
          </a:xfrm>
          <a:prstGeom prst="bentConnector3">
            <a:avLst/>
          </a:prstGeom>
          <a:ln w="25400">
            <a:solidFill>
              <a:srgbClr val="2C5F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6492239" y="4434840"/>
            <a:ext cx="137161" cy="0"/>
          </a:xfrm>
          <a:prstGeom prst="bentConnector3">
            <a:avLst/>
          </a:prstGeom>
          <a:ln w="25400">
            <a:solidFill>
              <a:srgbClr val="2C5F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4526279" y="4434840"/>
            <a:ext cx="137161" cy="0"/>
          </a:xfrm>
          <a:prstGeom prst="bentConnector3">
            <a:avLst/>
          </a:prstGeom>
          <a:ln w="25400">
            <a:solidFill>
              <a:srgbClr val="2C5F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560320" y="4434840"/>
            <a:ext cx="137160" cy="0"/>
          </a:xfrm>
          <a:prstGeom prst="bentConnector3">
            <a:avLst/>
          </a:prstGeom>
          <a:ln w="25400">
            <a:solidFill>
              <a:srgbClr val="2C5F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Implementado por Terminal.limparTela() + Terminal.aguardarEnter()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AD18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Demonstracao do Jogo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MENU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+==================================+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        ECOCITY - RPG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+==================================+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[1] Iniciar Jogo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[2] Instrucoes  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[3] Creditos    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|  [4] Sair                        |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+==================================+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Sua escolha: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82880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92024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ENREDO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24028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============================================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  E C O C I T Y  -  E N R E D O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============================================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A cidade foi devastada pela poluicao,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pelo desmatamento e por conflitos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ambientais.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/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Voce decide mudar esse destino...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29768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MISSAO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0916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&gt; NPC 2.1 tem uma missao para voce.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Missao: Despoluir as aguas do rio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Limite: 5 turnos (para bonus)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Como cumprir a missao?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[1] Classe ideal (eficiente)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[2] Abordagem comum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  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4297680"/>
            <a:ext cx="3657600" cy="2331720"/>
          </a:xfrm>
          <a:prstGeom prst="roundRect">
            <a:avLst/>
          </a:prstGeom>
          <a:solidFill>
            <a:srgbClr val="0A140B"/>
          </a:solidFill>
          <a:ln w="12700">
            <a:solidFill>
              <a:srgbClr val="2C5F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43891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6AD18A"/>
                </a:solidFill>
                <a:latin typeface="Consolas"/>
              </a:rPr>
              <a:t>$ FIM DE JOGO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709160"/>
            <a:ext cx="3383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F I M   D E   J O G O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============================================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A cidade respira de novo.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Os rios correm limpos.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/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Heroi conquistou o titulo de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GUARDIAO DA NATUREZA.</a:t>
            </a:r>
          </a:p>
          <a:p>
            <a:pPr algn="l"/>
            <a:r>
              <a:rPr sz="850" b="0">
                <a:solidFill>
                  <a:srgbClr val="C8DAC0"/>
                </a:solidFill>
                <a:latin typeface="Consolas"/>
              </a:rPr>
              <a:t>  Pontos: 7625  |  Missoes: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BB0A0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BB0A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Tratamento de Excecoes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C5F2D"/>
                </a:solidFill>
                <a:latin typeface="Calibri"/>
              </a:rPr>
              <a:t>Estabilidade: o jogo nao quebra com entradas invalidas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23160"/>
            <a:ext cx="7589520" cy="246888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73152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try {</a:t>
            </a:r>
          </a:p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    int opcao = Integer.parseInt(scanner.nextLine().trim());</a:t>
            </a:r>
          </a:p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    if (opcao &lt; 1 || opcao &gt; 4)</a:t>
            </a:r>
          </a:p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        throw new EntradaInvalidaException("Opcao invalida.");</a:t>
            </a:r>
          </a:p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    // ... executar acao do menu ...</a:t>
            </a:r>
          </a:p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} catch (NumberFormatException e) {</a:t>
            </a:r>
          </a:p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    System.out.println("[ERRO] Digite apenas numeros.");</a:t>
            </a:r>
          </a:p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} catch (EntradaInvalidaException e) {</a:t>
            </a:r>
          </a:p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    System.out.println("[ERRO] " + e.getMessage());</a:t>
            </a:r>
          </a:p>
          <a:p>
            <a:pPr algn="l"/>
            <a:r>
              <a:rPr sz="1250" b="0">
                <a:solidFill>
                  <a:srgbClr val="6AD18A"/>
                </a:solidFill>
                <a:latin typeface="Consolas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166360"/>
            <a:ext cx="24688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257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alibri"/>
              </a:rPr>
              <a:t>Letra no menu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B2B1D"/>
                </a:solidFill>
                <a:latin typeface="Calibri"/>
              </a:rPr>
              <a:t>Capturado por NumberFormatException.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5166360"/>
            <a:ext cx="24688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5257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alibri"/>
              </a:rPr>
              <a:t>Numero fora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56235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B2B1D"/>
                </a:solidFill>
                <a:latin typeface="Calibri"/>
              </a:rPr>
              <a:t>Lancada EntradaInvalidaException.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5166360"/>
            <a:ext cx="24688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5257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2C5F2D"/>
                </a:solidFill>
                <a:latin typeface="Calibri"/>
              </a:rPr>
              <a:t>Sistema segue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56235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1B2B1D"/>
                </a:solidFill>
                <a:latin typeface="Calibri"/>
              </a:rPr>
              <a:t>Loop continua, jogador tenta de novo.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O Projeto em Numeros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26060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2606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2C5F2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375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E7C71"/>
                </a:solidFill>
                <a:latin typeface="Calibri"/>
              </a:rPr>
              <a:t>arquivos .java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920240"/>
            <a:ext cx="26060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148840"/>
            <a:ext cx="2606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2C5F2D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3375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E7C71"/>
                </a:solidFill>
                <a:latin typeface="Calibri"/>
              </a:rPr>
              <a:t>pacotes Java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920240"/>
            <a:ext cx="26060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148840"/>
            <a:ext cx="2606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2C5F2D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3375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E7C71"/>
                </a:solidFill>
                <a:latin typeface="Calibri"/>
              </a:rPr>
              <a:t>conceitos O.O.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114800"/>
            <a:ext cx="26060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2606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2C5F2D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532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E7C71"/>
                </a:solidFill>
                <a:latin typeface="Calibri"/>
              </a:rPr>
              <a:t>niveis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114800"/>
            <a:ext cx="26060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4343400"/>
            <a:ext cx="2606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2C5F2D"/>
                </a:solidFill>
                <a:latin typeface="Calibri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532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E7C71"/>
                </a:solidFill>
                <a:latin typeface="Calibri"/>
              </a:rPr>
              <a:t>missoes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4114800"/>
            <a:ext cx="26060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7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343400"/>
            <a:ext cx="2606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2C5F2D"/>
                </a:solidFill>
                <a:latin typeface="Calibr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532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E7C71"/>
                </a:solidFill>
                <a:latin typeface="Calibri"/>
              </a:rPr>
              <a:t>telas distintas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Entrega e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C5F2D"/>
                </a:solidFill>
                <a:latin typeface="Calibri"/>
              </a:rPr>
              <a:t>Codigo-fonte publico no GitHub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23160"/>
            <a:ext cx="7589520" cy="1280160"/>
          </a:xfrm>
          <a:prstGeom prst="roundRect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7BC62"/>
                </a:solidFill>
                <a:latin typeface="Calibri"/>
              </a:rPr>
              <a:t>REPOSITORIO PUBLICO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6AD18A"/>
                </a:solidFill>
                <a:latin typeface="Consolas"/>
              </a:rPr>
              <a:t>github.com/BielmFranco/EcoCity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91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8DAC0"/>
                </a:solidFill>
                <a:latin typeface="Calibri"/>
              </a:rPr>
              <a:t>Clone, fork ou download ZIP - pronto pra rodar.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C5F2D"/>
                </a:solidFill>
                <a:latin typeface="Calibri"/>
              </a:rPr>
              <a:t>ENTREGAVEIS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4526279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434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B2B1D"/>
                </a:solidFill>
                <a:latin typeface="Calibri"/>
              </a:rPr>
              <a:t>Codigo-fonte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434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E7C71"/>
                </a:solidFill>
                <a:latin typeface="Calibri"/>
              </a:rPr>
              <a:t>14 arquivos .java organizados em 7 pacotes.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983479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B2B1D"/>
                </a:solidFill>
                <a:latin typeface="Calibri"/>
              </a:rPr>
              <a:t>EcoCity.jar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892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E7C71"/>
                </a:solidFill>
                <a:latin typeface="Calibri"/>
              </a:rPr>
              <a:t>Executavel compilado, pronto para rodar.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5440679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49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B2B1D"/>
                </a:solidFill>
                <a:latin typeface="Calibri"/>
              </a:rPr>
              <a:t>jogar.bat / jogar.sh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5349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E7C71"/>
                </a:solidFill>
                <a:latin typeface="Calibri"/>
              </a:rPr>
              <a:t>Scripts portateis Windows / Linux / Mac.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5897879"/>
            <a:ext cx="164592" cy="164592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8064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B2B1D"/>
                </a:solidFill>
                <a:latin typeface="Calibri"/>
              </a:rPr>
              <a:t>README + TUTORIAL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806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E7C71"/>
                </a:solidFill>
                <a:latin typeface="Calibri"/>
              </a:rPr>
              <a:t>Documentacao tecnica e guia do usuario.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64592" cy="5029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C5F2D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B2B1D"/>
                </a:solidFill>
                <a:latin typeface="Calibri"/>
              </a:rPr>
              <a:t>Conclusao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C5F2D"/>
                </a:solidFill>
                <a:latin typeface="Calibri"/>
              </a:rPr>
              <a:t>O EcoCity uniu tecnica e mensagem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371600" cy="10058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1371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60604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POO aplicada na pratica: heranca, polimorfismo, interfaces, abstracao e excecoes - todos demonstrados num sistema coeso.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57600"/>
            <a:ext cx="1371600" cy="10058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57600"/>
            <a:ext cx="1371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Pedagogica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379476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Gamificacao transforma conceitos sustentaveis em experiencia interativa - aprendizado ativo, nao passivo.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846320"/>
            <a:ext cx="1371600" cy="1005840"/>
          </a:xfrm>
          <a:prstGeom prst="round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371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498348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B2B1D"/>
                </a:solidFill>
                <a:latin typeface="Calibri"/>
              </a:rPr>
              <a:t>Mensagem ambiental: poluicao, desmatamento e a importancia da restauracao chegam ao jogador atraves da jogabilidade.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E7C71"/>
                </a:solidFill>
                <a:latin typeface="Calibri"/>
              </a:rPr>
              <a:t>EcoCity  -  RPG Textual  |  APS UNIP 2026/1  -  LPOO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E7C71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0" y="5029200"/>
            <a:ext cx="4114800" cy="4114800"/>
          </a:xfrm>
          <a:prstGeom prst="ellipse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79" y="5669280"/>
            <a:ext cx="2743200" cy="2743200"/>
          </a:xfrm>
          <a:prstGeom prst="ellipse">
            <a:avLst/>
          </a:prstGeom>
          <a:solidFill>
            <a:srgbClr val="142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200" b="1">
                <a:solidFill>
                  <a:srgbClr val="FFFFFF"/>
                </a:solidFill>
                <a:latin typeface="Calibri"/>
              </a:rPr>
              <a:t>Obrigado!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822960" cy="45720"/>
          </a:xfrm>
          <a:prstGeom prst="rect">
            <a:avLst/>
          </a:prstGeom>
          <a:solidFill>
            <a:srgbClr val="6AD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38328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6AD18A"/>
                </a:solidFill>
                <a:latin typeface="Calibri"/>
              </a:rPr>
              <a:t>Perguntas, comentarios e ideias sao bem-vindos.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029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7BC62"/>
                </a:solidFill>
                <a:latin typeface="Consolas"/>
              </a:rPr>
              <a:t>github.com/BielmFranco/EcoCity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4864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8DAC0"/>
                </a:solidFill>
                <a:latin typeface="Calibri"/>
              </a:rPr>
              <a:t>EcoCity  -  APS UNIP 2026/1  -  LPOO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