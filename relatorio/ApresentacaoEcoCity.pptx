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0" y="-1371600"/>
            <a:ext cx="4114800" cy="4114800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98079" y="-731520"/>
            <a:ext cx="2743200" cy="2743200"/>
          </a:xfrm>
          <a:prstGeom prst="ellipse">
            <a:avLst/>
          </a:prstGeom>
          <a:solidFill>
            <a:srgbClr val="142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5029200"/>
            <a:ext cx="4114800" cy="4114800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731520" y="5669280"/>
            <a:ext cx="2743200" cy="2743200"/>
          </a:xfrm>
          <a:prstGeom prst="ellipse">
            <a:avLst/>
          </a:prstGeom>
          <a:solidFill>
            <a:srgbClr val="142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97BC62"/>
                </a:solidFill>
                <a:latin typeface="Calibri"/>
              </a:rPr>
              <a:t>APS UNIP 2026/1  -  LPOO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8229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0" b="1">
                <a:solidFill>
                  <a:srgbClr val="FFFFFF"/>
                </a:solidFill>
                <a:latin typeface="Calibri"/>
              </a:rPr>
              <a:t>EcoCity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0040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6AD18A"/>
                </a:solidFill>
                <a:latin typeface="Calibri"/>
              </a:rPr>
              <a:t>RPG Textual em Java  -  Conscientizacao Ambiental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3794760"/>
            <a:ext cx="822960" cy="45720"/>
          </a:xfrm>
          <a:prstGeom prst="rect">
            <a:avLst/>
          </a:prstGeom>
          <a:solidFill>
            <a:srgbClr val="6AD1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40233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8DAC0"/>
                </a:solidFill>
                <a:latin typeface="Calibri"/>
              </a:rPr>
              <a:t>Universidade Paulista  -  Ciencia da Computacao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3434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BB0A0"/>
                </a:solidFill>
                <a:latin typeface="Calibri"/>
              </a:rPr>
              <a:t>Orientador: Prof. Carlos Baltazar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0292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AD18A"/>
                </a:solidFill>
                <a:latin typeface="Calibri"/>
              </a:rPr>
              <a:t>GRUPO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349240"/>
            <a:ext cx="8229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Consolas"/>
              </a:rPr>
              <a:t>Alessandra Cristina da Silva Souza  -  R799565</a:t>
            </a:r>
          </a:p>
          <a:p>
            <a:pPr algn="l"/>
            <a:r>
              <a:rPr sz="1150" b="0">
                <a:solidFill>
                  <a:srgbClr val="FFFFFF"/>
                </a:solidFill>
                <a:latin typeface="Consolas"/>
              </a:rPr>
              <a:t>Caetano de Paula Telles Ribeiro     -  R688GC4</a:t>
            </a:r>
          </a:p>
          <a:p>
            <a:pPr algn="l"/>
            <a:r>
              <a:rPr sz="1150" b="0">
                <a:solidFill>
                  <a:srgbClr val="FFFFFF"/>
                </a:solidFill>
                <a:latin typeface="Consolas"/>
              </a:rPr>
              <a:t>Jhonnatan Pereira Santos            -  R363JH0</a:t>
            </a:r>
          </a:p>
          <a:p>
            <a:pPr algn="l"/>
            <a:r>
              <a:rPr sz="1150" b="0">
                <a:solidFill>
                  <a:srgbClr val="FFFFFF"/>
                </a:solidFill>
                <a:latin typeface="Consolas"/>
              </a:rPr>
              <a:t>Guilherme Moraes Franco             -  H386632</a:t>
            </a:r>
          </a:p>
          <a:p>
            <a:pPr algn="l"/>
            <a:r>
              <a:rPr sz="1150" b="0">
                <a:solidFill>
                  <a:srgbClr val="FFFFFF"/>
                </a:solidFill>
                <a:latin typeface="Consolas"/>
              </a:rPr>
              <a:t>Gabriel Moraes Franco               -  H384338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64592" cy="50292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C5F2D"/>
                </a:solidFill>
                <a:latin typeface="Calibri"/>
              </a:rPr>
              <a:t>NAVEGACAO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B2B1D"/>
                </a:solidFill>
                <a:latin typeface="Calibri"/>
              </a:rPr>
              <a:t>Sumario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87452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B2B1D"/>
                </a:solidFill>
                <a:latin typeface="Calibri"/>
              </a:rPr>
              <a:t>Objetivo do Projeto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606040"/>
            <a:ext cx="457200" cy="457200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06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65176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B2B1D"/>
                </a:solidFill>
                <a:latin typeface="Calibri"/>
              </a:rPr>
              <a:t>Enredo do Jogo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383280"/>
            <a:ext cx="457200" cy="457200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3832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42900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B2B1D"/>
                </a:solidFill>
                <a:latin typeface="Calibri"/>
              </a:rPr>
              <a:t>Tecnologias Utilizadas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160520"/>
            <a:ext cx="457200" cy="457200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1605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20624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B2B1D"/>
                </a:solidFill>
                <a:latin typeface="Calibri"/>
              </a:rPr>
              <a:t>Niveis e Evolucao do Personagem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4937760"/>
            <a:ext cx="457200" cy="457200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9377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98348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B2B1D"/>
                </a:solidFill>
                <a:latin typeface="Calibri"/>
              </a:rPr>
              <a:t>Missoes e NPCs</a:t>
            </a:r>
          </a:p>
        </p:txBody>
      </p:sp>
      <p:sp>
        <p:nvSpPr>
          <p:cNvPr id="20" name="Oval 19"/>
          <p:cNvSpPr/>
          <p:nvPr/>
        </p:nvSpPr>
        <p:spPr>
          <a:xfrm>
            <a:off x="4937760" y="1828800"/>
            <a:ext cx="457200" cy="457200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37760" y="18288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7840" y="187452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B2B1D"/>
                </a:solidFill>
                <a:latin typeface="Calibri"/>
              </a:rPr>
              <a:t>Sistema de Pontuacao</a:t>
            </a:r>
          </a:p>
        </p:txBody>
      </p:sp>
      <p:sp>
        <p:nvSpPr>
          <p:cNvPr id="23" name="Oval 22"/>
          <p:cNvSpPr/>
          <p:nvPr/>
        </p:nvSpPr>
        <p:spPr>
          <a:xfrm>
            <a:off x="4937760" y="2606040"/>
            <a:ext cx="457200" cy="457200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37760" y="2606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0" y="265176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B2B1D"/>
                </a:solidFill>
                <a:latin typeface="Calibri"/>
              </a:rPr>
              <a:t>Demonstracao do Jogo</a:t>
            </a:r>
          </a:p>
        </p:txBody>
      </p:sp>
      <p:sp>
        <p:nvSpPr>
          <p:cNvPr id="26" name="Oval 25"/>
          <p:cNvSpPr/>
          <p:nvPr/>
        </p:nvSpPr>
        <p:spPr>
          <a:xfrm>
            <a:off x="4937760" y="3383280"/>
            <a:ext cx="457200" cy="457200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37760" y="33832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77840" y="342900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B2B1D"/>
                </a:solidFill>
                <a:latin typeface="Calibri"/>
              </a:rPr>
              <a:t>Estrutura do Codigo</a:t>
            </a:r>
          </a:p>
        </p:txBody>
      </p:sp>
      <p:sp>
        <p:nvSpPr>
          <p:cNvPr id="29" name="Oval 28"/>
          <p:cNvSpPr/>
          <p:nvPr/>
        </p:nvSpPr>
        <p:spPr>
          <a:xfrm>
            <a:off x="4937760" y="4160520"/>
            <a:ext cx="457200" cy="457200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37760" y="41605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77840" y="420624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B2B1D"/>
                </a:solidFill>
                <a:latin typeface="Calibri"/>
              </a:rPr>
              <a:t>Conceitos de O.O. e Hierarquia</a:t>
            </a:r>
          </a:p>
        </p:txBody>
      </p:sp>
      <p:sp>
        <p:nvSpPr>
          <p:cNvPr id="32" name="Oval 31"/>
          <p:cNvSpPr/>
          <p:nvPr/>
        </p:nvSpPr>
        <p:spPr>
          <a:xfrm>
            <a:off x="4937760" y="4937760"/>
            <a:ext cx="457200" cy="457200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37760" y="49377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77840" y="498348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B2B1D"/>
                </a:solidFill>
                <a:latin typeface="Calibri"/>
              </a:rPr>
              <a:t>Exemplo de Codigo e Entrega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7C71"/>
                </a:solidFill>
                <a:latin typeface="Calibri"/>
              </a:rPr>
              <a:t>EcoCity  -  RPG Textual  |  APS UNIP 2026/1  -  LPOO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E7C71"/>
                </a:solidFill>
                <a:latin typeface="Calibri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64592" cy="50292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C5F2D"/>
                </a:solidFill>
                <a:latin typeface="Calibr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B2B1D"/>
                </a:solidFill>
                <a:latin typeface="Calibri"/>
              </a:rPr>
              <a:t>Objetivo do Projeto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3931920" cy="4114800"/>
          </a:xfrm>
          <a:prstGeom prst="round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0312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97BC62"/>
                </a:solidFill>
                <a:latin typeface="Calibri"/>
              </a:rPr>
              <a:t>META PRINCIPAL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68880"/>
            <a:ext cx="36576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Aplicar Programacao Orientada</a:t>
            </a:r>
          </a:p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a Objetos no desenvolvimento</a:t>
            </a:r>
          </a:p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de um RPG textual em Java,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572000"/>
            <a:ext cx="3657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6AD18A"/>
                </a:solidFill>
                <a:latin typeface="Calibri"/>
              </a:rPr>
              <a:t>promovendo a conscientizacao</a:t>
            </a:r>
          </a:p>
          <a:p>
            <a:pPr algn="l"/>
            <a:r>
              <a:rPr sz="1600" b="0">
                <a:solidFill>
                  <a:srgbClr val="6AD18A"/>
                </a:solidFill>
                <a:latin typeface="Calibri"/>
              </a:rPr>
              <a:t>ambiental atraves de</a:t>
            </a:r>
          </a:p>
          <a:p>
            <a:pPr algn="l"/>
            <a:r>
              <a:rPr sz="1600" b="0">
                <a:solidFill>
                  <a:srgbClr val="6AD18A"/>
                </a:solidFill>
                <a:latin typeface="Calibri"/>
              </a:rPr>
              <a:t>mecanicas de jogo.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1874519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C5F2D"/>
                </a:solidFill>
                <a:latin typeface="Calibri"/>
              </a:rPr>
              <a:t>ENTREGAS TECNICAS</a:t>
            </a:r>
          </a:p>
        </p:txBody>
      </p:sp>
      <p:sp>
        <p:nvSpPr>
          <p:cNvPr id="10" name="Oval 9"/>
          <p:cNvSpPr/>
          <p:nvPr/>
        </p:nvSpPr>
        <p:spPr>
          <a:xfrm>
            <a:off x="5120640" y="2496312"/>
            <a:ext cx="164592" cy="164592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40680" y="23317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B2B1D"/>
                </a:solidFill>
                <a:latin typeface="Calibri"/>
              </a:rPr>
              <a:t>RPG textual rodando no console</a:t>
            </a:r>
          </a:p>
        </p:txBody>
      </p:sp>
      <p:sp>
        <p:nvSpPr>
          <p:cNvPr id="12" name="Oval 11"/>
          <p:cNvSpPr/>
          <p:nvPr/>
        </p:nvSpPr>
        <p:spPr>
          <a:xfrm>
            <a:off x="5120640" y="3044952"/>
            <a:ext cx="164592" cy="164592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0680" y="28803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B2B1D"/>
                </a:solidFill>
                <a:latin typeface="Calibri"/>
              </a:rPr>
              <a:t>5 niveis de evolucao do personagem</a:t>
            </a:r>
          </a:p>
        </p:txBody>
      </p:sp>
      <p:sp>
        <p:nvSpPr>
          <p:cNvPr id="14" name="Oval 13"/>
          <p:cNvSpPr/>
          <p:nvPr/>
        </p:nvSpPr>
        <p:spPr>
          <a:xfrm>
            <a:off x="5120640" y="3593592"/>
            <a:ext cx="164592" cy="164592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40680" y="34290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B2B1D"/>
                </a:solidFill>
                <a:latin typeface="Calibri"/>
              </a:rPr>
              <a:t>15 missoes ecologicas tematicas</a:t>
            </a:r>
          </a:p>
        </p:txBody>
      </p:sp>
      <p:sp>
        <p:nvSpPr>
          <p:cNvPr id="16" name="Oval 15"/>
          <p:cNvSpPr/>
          <p:nvPr/>
        </p:nvSpPr>
        <p:spPr>
          <a:xfrm>
            <a:off x="5120640" y="4142231"/>
            <a:ext cx="164592" cy="164592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40680" y="3977639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B2B1D"/>
                </a:solidFill>
                <a:latin typeface="Calibri"/>
              </a:rPr>
              <a:t>Sistema de pontuacao com bonus</a:t>
            </a:r>
          </a:p>
        </p:txBody>
      </p:sp>
      <p:sp>
        <p:nvSpPr>
          <p:cNvPr id="18" name="Oval 17"/>
          <p:cNvSpPr/>
          <p:nvPr/>
        </p:nvSpPr>
        <p:spPr>
          <a:xfrm>
            <a:off x="5120640" y="4690871"/>
            <a:ext cx="164592" cy="164592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40680" y="4526279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B2B1D"/>
                </a:solidFill>
                <a:latin typeface="Calibri"/>
              </a:rPr>
              <a:t>9 conceitos de O.O. aplicados</a:t>
            </a:r>
          </a:p>
        </p:txBody>
      </p:sp>
      <p:sp>
        <p:nvSpPr>
          <p:cNvPr id="20" name="Oval 19"/>
          <p:cNvSpPr/>
          <p:nvPr/>
        </p:nvSpPr>
        <p:spPr>
          <a:xfrm>
            <a:off x="5120640" y="5239512"/>
            <a:ext cx="164592" cy="164592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0680" y="50749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B2B1D"/>
                </a:solidFill>
                <a:latin typeface="Calibri"/>
              </a:rPr>
              <a:t>Tratamento de excecoes (try-catch)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7C71"/>
                </a:solidFill>
                <a:latin typeface="Calibri"/>
              </a:rPr>
              <a:t>EcoCity  -  RPG Textual  |  APS UNIP 2026/1  -  LPOO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E7C71"/>
                </a:solidFill>
                <a:latin typeface="Calibri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64592" cy="502920"/>
          </a:xfrm>
          <a:prstGeom prst="rect">
            <a:avLst/>
          </a:prstGeom>
          <a:solidFill>
            <a:srgbClr val="6AD1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AD18A"/>
                </a:solidFill>
                <a:latin typeface="Calibr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Enredo do Jogo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77724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A historia se passa em uma cidade devastada pela</a:t>
            </a:r>
          </a:p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poluicao, pelo desmatamento e por conflitos ambientais.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108960"/>
            <a:ext cx="7772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C8DAC0"/>
                </a:solidFill>
                <a:latin typeface="Calibri"/>
              </a:rPr>
              <a:t>O jogador deve cumprir missoes ecologicas para restaurar o</a:t>
            </a:r>
          </a:p>
          <a:p>
            <a:pPr algn="l"/>
            <a:r>
              <a:rPr sz="1500" b="0">
                <a:solidFill>
                  <a:srgbClr val="C8DAC0"/>
                </a:solidFill>
                <a:latin typeface="Calibri"/>
              </a:rPr>
              <a:t>equilibrio ambiental, evoluindo progressivamente do nivel</a:t>
            </a:r>
          </a:p>
          <a:p>
            <a:pPr algn="l"/>
            <a:r>
              <a:rPr sz="1500" b="0">
                <a:solidFill>
                  <a:srgbClr val="C8DAC0"/>
                </a:solidFill>
                <a:latin typeface="Calibri"/>
              </a:rPr>
              <a:t>1 (Explorador) ate alcancar o titulo de Guardiao da Natureza.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5212080"/>
            <a:ext cx="1463040" cy="822960"/>
          </a:xfrm>
          <a:prstGeom prst="round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28523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7BC62"/>
                </a:solidFill>
                <a:latin typeface="Calibri"/>
              </a:rPr>
              <a:t>Nivel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53212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Explorador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544068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6AD18A"/>
                </a:solidFill>
                <a:latin typeface="Calibri"/>
              </a:rP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3160" y="5212080"/>
            <a:ext cx="1463040" cy="822960"/>
          </a:xfrm>
          <a:prstGeom prst="round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23160" y="528523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7BC62"/>
                </a:solidFill>
                <a:latin typeface="Calibri"/>
              </a:rPr>
              <a:t>Nivel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553212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Descontaminador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544068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6AD18A"/>
                </a:solidFill>
                <a:latin typeface="Calibri"/>
              </a:rPr>
              <a:t>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69080" y="5212080"/>
            <a:ext cx="1463040" cy="822960"/>
          </a:xfrm>
          <a:prstGeom prst="round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69080" y="528523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7BC62"/>
                </a:solidFill>
                <a:latin typeface="Calibri"/>
              </a:rPr>
              <a:t>Nivel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9080" y="553212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Botanico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32120" y="544068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6AD18A"/>
                </a:solidFill>
                <a:latin typeface="Calibri"/>
              </a:rPr>
              <a:t>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0" y="5212080"/>
            <a:ext cx="1463040" cy="822960"/>
          </a:xfrm>
          <a:prstGeom prst="round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15000" y="528523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7BC62"/>
                </a:solidFill>
                <a:latin typeface="Calibri"/>
              </a:rPr>
              <a:t>Nivel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0" y="553212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Construtor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544068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6AD18A"/>
                </a:solidFill>
                <a:latin typeface="Calibri"/>
              </a:rPr>
              <a:t>&gt;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60920" y="5212080"/>
            <a:ext cx="1463040" cy="822960"/>
          </a:xfrm>
          <a:prstGeom prst="round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60920" y="528523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7BC62"/>
                </a:solidFill>
                <a:latin typeface="Calibri"/>
              </a:rPr>
              <a:t>Nivel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553212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Guardiao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BB0A0"/>
                </a:solidFill>
                <a:latin typeface="Calibri"/>
              </a:rPr>
              <a:t>EcoCity  -  RPG Textual  |  APS UNIP 2026/1  -  LPOO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BB0A0"/>
                </a:solidFill>
                <a:latin typeface="Calibri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64592" cy="50292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C5F2D"/>
                </a:solidFill>
                <a:latin typeface="Calibr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B2B1D"/>
                </a:solidFill>
                <a:latin typeface="Calibri"/>
              </a:rPr>
              <a:t>Tecnologias Utilizadas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38404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1560" y="2103120"/>
            <a:ext cx="548640" cy="548640"/>
          </a:xfrm>
          <a:prstGeom prst="round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031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19456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2C5F2D"/>
                </a:solidFill>
                <a:latin typeface="Calibri"/>
              </a:rPr>
              <a:t>Java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880360"/>
            <a:ext cx="3383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B2B1D"/>
                </a:solidFill>
                <a:latin typeface="Calibri"/>
              </a:rPr>
              <a:t>Linguagem orientada a objetos. JDK Microsoft OpenJDK 21.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828800"/>
            <a:ext cx="38404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846320" y="2103120"/>
            <a:ext cx="548640" cy="548640"/>
          </a:xfrm>
          <a:prstGeom prst="round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21031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2120" y="219456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2C5F2D"/>
                </a:solidFill>
                <a:latin typeface="Calibri"/>
              </a:rPr>
              <a:t>Console / Terminal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880360"/>
            <a:ext cx="3383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B2B1D"/>
                </a:solidFill>
                <a:latin typeface="Calibri"/>
              </a:rPr>
              <a:t>Interface textual. Encoding UTF-8 e escape ANSI.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114800"/>
            <a:ext cx="38404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51560" y="4389120"/>
            <a:ext cx="548640" cy="548640"/>
          </a:xfrm>
          <a:prstGeom prst="round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3891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448056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2C5F2D"/>
                </a:solidFill>
                <a:latin typeface="Calibri"/>
              </a:rPr>
              <a:t>Git + GitHub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5166360"/>
            <a:ext cx="3383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B2B1D"/>
                </a:solidFill>
                <a:latin typeface="Calibri"/>
              </a:rPr>
              <a:t>Versionamento e hospedagem publica do projeto.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4114800"/>
            <a:ext cx="38404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846320" y="4389120"/>
            <a:ext cx="548640" cy="548640"/>
          </a:xfrm>
          <a:prstGeom prst="round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0" y="43891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32120" y="448056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2C5F2D"/>
                </a:solidFill>
                <a:latin typeface="Calibri"/>
              </a:rPr>
              <a:t>Markdown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5166360"/>
            <a:ext cx="3383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B2B1D"/>
                </a:solidFill>
                <a:latin typeface="Calibri"/>
              </a:rPr>
              <a:t>Documentacao tecnica: README e TUTORIAL.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7C71"/>
                </a:solidFill>
                <a:latin typeface="Calibri"/>
              </a:rPr>
              <a:t>EcoCity  -  RPG Textual  |  APS UNIP 2026/1  -  LPOO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E7C71"/>
                </a:solidFill>
                <a:latin typeface="Calibri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64592" cy="50292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C5F2D"/>
                </a:solidFill>
                <a:latin typeface="Calibr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B2B1D"/>
                </a:solidFill>
                <a:latin typeface="Calibri"/>
              </a:rPr>
              <a:t>Niveis e Evolucao do Personagem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E7C71"/>
                </a:solidFill>
                <a:latin typeface="Calibri"/>
              </a:rPr>
              <a:t>5 niveis progressivos - o jogador evolui ao completar todas as missoes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331720"/>
            <a:ext cx="75895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640080" cy="713232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6400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450591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C5F2D"/>
                </a:solidFill>
                <a:latin typeface="Calibri"/>
              </a:rPr>
              <a:t>Explorador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71576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2B1D"/>
                </a:solidFill>
                <a:latin typeface="Calibri"/>
              </a:rPr>
              <a:t>Iniciante. Descobre o que restou da natureza.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136391"/>
            <a:ext cx="75895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136391"/>
            <a:ext cx="640080" cy="713232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136391"/>
            <a:ext cx="6400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255263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C5F2D"/>
                </a:solidFill>
                <a:latin typeface="Calibri"/>
              </a:rPr>
              <a:t>Descontaminador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520439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2B1D"/>
                </a:solidFill>
                <a:latin typeface="Calibri"/>
              </a:rPr>
              <a:t>Limpa solo, agua e ar da cidade.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941063"/>
            <a:ext cx="75895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941063"/>
            <a:ext cx="640080" cy="713232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941063"/>
            <a:ext cx="6400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059935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C5F2D"/>
                </a:solidFill>
                <a:latin typeface="Calibri"/>
              </a:rPr>
              <a:t>Botanico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4325112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2B1D"/>
                </a:solidFill>
                <a:latin typeface="Calibri"/>
              </a:rPr>
              <a:t>Replanta a vegetacao perdida.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745736"/>
            <a:ext cx="75895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4745736"/>
            <a:ext cx="640080" cy="713232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745736"/>
            <a:ext cx="6400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4864607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C5F2D"/>
                </a:solidFill>
                <a:latin typeface="Calibri"/>
              </a:rPr>
              <a:t>Construtor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5129783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2B1D"/>
                </a:solidFill>
                <a:latin typeface="Calibri"/>
              </a:rPr>
              <a:t>Constroi estruturas sustentaveis.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5550407"/>
            <a:ext cx="75895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5550407"/>
            <a:ext cx="640080" cy="713232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550407"/>
            <a:ext cx="6400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0200" y="5669279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C5F2D"/>
                </a:solidFill>
                <a:latin typeface="Calibri"/>
              </a:rPr>
              <a:t>Guardiao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0200" y="5934455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2B1D"/>
                </a:solidFill>
                <a:latin typeface="Calibri"/>
              </a:rPr>
              <a:t>Titulo final. Restaura o equilibrio ambiental da cidade.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7C71"/>
                </a:solidFill>
                <a:latin typeface="Calibri"/>
              </a:rPr>
              <a:t>EcoCity  -  RPG Textual  |  APS UNIP 2026/1  -  LPOO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E7C71"/>
                </a:solidFill>
                <a:latin typeface="Calibri"/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64592" cy="50292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C5F2D"/>
                </a:solidFill>
                <a:latin typeface="Calibr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B2B1D"/>
                </a:solidFill>
                <a:latin typeface="Calibri"/>
              </a:rPr>
              <a:t>Missoes e NPCs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E7C71"/>
                </a:solidFill>
                <a:latin typeface="Calibri"/>
              </a:rPr>
              <a:t>Nivel N possui N NPCs e N missoes - 1 missao por NPC (total: 15)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286000"/>
            <a:ext cx="36576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C5F2D"/>
                </a:solidFill>
                <a:latin typeface="Calibri"/>
              </a:rPr>
              <a:t>COMO FUNCIONA O NPC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43200"/>
            <a:ext cx="32918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1B2B1D"/>
                </a:solidFill>
                <a:latin typeface="Calibri"/>
              </a:rPr>
              <a:t>- Entrega 1 missao ecologica</a:t>
            </a:r>
          </a:p>
          <a:p>
            <a:pPr algn="l"/>
            <a:r>
              <a:rPr sz="1250" b="0">
                <a:solidFill>
                  <a:srgbClr val="1B2B1D"/>
                </a:solidFill>
                <a:latin typeface="Calibri"/>
              </a:rPr>
              <a:t>- Interacao direta e mecanica</a:t>
            </a:r>
          </a:p>
          <a:p>
            <a:pPr algn="l"/>
            <a:r>
              <a:rPr sz="1250" b="0">
                <a:solidFill>
                  <a:srgbClr val="1B2B1D"/>
                </a:solidFill>
                <a:latin typeface="Calibri"/>
              </a:rPr>
              <a:t>- Sem dialogos longos</a:t>
            </a:r>
          </a:p>
          <a:p>
            <a:pPr algn="l"/>
            <a:r>
              <a:rPr sz="1250" b="0">
                <a:solidFill>
                  <a:srgbClr val="1B2B1D"/>
                </a:solidFill>
                <a:latin typeface="Calibri"/>
              </a:rPr>
              <a:t>- Registra a conclusao</a:t>
            </a:r>
          </a:p>
          <a:p>
            <a:pPr algn="l"/>
            <a:r>
              <a:rPr sz="1250" b="0">
                <a:solidFill>
                  <a:srgbClr val="1B2B1D"/>
                </a:solidFill>
                <a:latin typeface="Calibri"/>
              </a:rPr>
              <a:t>- Libera o avanco do jogador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2286000"/>
            <a:ext cx="36576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24231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C5F2D"/>
                </a:solidFill>
                <a:latin typeface="Calibri"/>
              </a:rPr>
              <a:t>TIPOS DE MISSAO ECOLOGICA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2743200"/>
            <a:ext cx="32918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1B2B1D"/>
                </a:solidFill>
                <a:latin typeface="Calibri"/>
              </a:rPr>
              <a:t>- Plantar sementes / replantar</a:t>
            </a:r>
          </a:p>
          <a:p>
            <a:pPr algn="l"/>
            <a:r>
              <a:rPr sz="1250" b="0">
                <a:solidFill>
                  <a:srgbClr val="1B2B1D"/>
                </a:solidFill>
                <a:latin typeface="Calibri"/>
              </a:rPr>
              <a:t>- Despoluir rios e lagos</a:t>
            </a:r>
          </a:p>
          <a:p>
            <a:pPr algn="l"/>
            <a:r>
              <a:rPr sz="1250" b="0">
                <a:solidFill>
                  <a:srgbClr val="1B2B1D"/>
                </a:solidFill>
                <a:latin typeface="Calibri"/>
              </a:rPr>
              <a:t>- Filtrar o ar</a:t>
            </a:r>
          </a:p>
          <a:p>
            <a:pPr algn="l"/>
            <a:r>
              <a:rPr sz="1250" b="0">
                <a:solidFill>
                  <a:srgbClr val="1B2B1D"/>
                </a:solidFill>
                <a:latin typeface="Calibri"/>
              </a:rPr>
              <a:t>- Construir parques e captacao</a:t>
            </a:r>
          </a:p>
          <a:p>
            <a:pPr algn="l"/>
            <a:r>
              <a:rPr sz="1250" b="0">
                <a:solidFill>
                  <a:srgbClr val="1B2B1D"/>
                </a:solidFill>
                <a:latin typeface="Calibri"/>
              </a:rPr>
              <a:t>- Inaugurar reservas naturais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663440"/>
            <a:ext cx="1828800" cy="1554480"/>
          </a:xfrm>
          <a:prstGeom prst="round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75488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7150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97BC62"/>
                </a:solidFill>
                <a:latin typeface="Calibri"/>
              </a:rPr>
              <a:t>missoes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97480" y="4663440"/>
            <a:ext cx="1828800" cy="1554480"/>
          </a:xfrm>
          <a:prstGeom prst="round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97480" y="475488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57150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97BC62"/>
                </a:solidFill>
                <a:latin typeface="Calibri"/>
              </a:rPr>
              <a:t>NPCs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17720" y="4663440"/>
            <a:ext cx="1828800" cy="1554480"/>
          </a:xfrm>
          <a:prstGeom prst="round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17720" y="475488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57150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97BC62"/>
                </a:solidFill>
                <a:latin typeface="Calibri"/>
              </a:rPr>
              <a:t>niveis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37960" y="4663440"/>
            <a:ext cx="1828800" cy="1554480"/>
          </a:xfrm>
          <a:prstGeom prst="round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475488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57150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97BC62"/>
                </a:solidFill>
                <a:latin typeface="Calibri"/>
              </a:rPr>
              <a:t>missao por NPC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7C71"/>
                </a:solidFill>
                <a:latin typeface="Calibri"/>
              </a:rPr>
              <a:t>EcoCity  -  RPG Textual  |  APS UNIP 2026/1  -  LPOO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E7C71"/>
                </a:solidFill>
                <a:latin typeface="Calibri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64592" cy="50292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C5F2D"/>
                </a:solidFill>
                <a:latin typeface="Calibri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B2B1D"/>
                </a:solidFill>
                <a:latin typeface="Calibri"/>
              </a:rPr>
              <a:t>Sistema de Pontuacao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260604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2C5F2D"/>
                </a:solidFill>
                <a:latin typeface="Calibri"/>
              </a:rPr>
              <a:t>Pontuacao Base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2606040"/>
            <a:ext cx="2148840" cy="777240"/>
          </a:xfrm>
          <a:prstGeom prst="roundRect">
            <a:avLst/>
          </a:prstGeom>
          <a:solidFill>
            <a:srgbClr val="142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606040"/>
            <a:ext cx="21488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6AD18A"/>
                </a:solidFill>
                <a:latin typeface="Consolas"/>
              </a:rPr>
              <a:t>nivel x 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566160"/>
            <a:ext cx="21945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B2B1D"/>
                </a:solidFill>
                <a:latin typeface="Calibri"/>
              </a:rPr>
              <a:t>Sobe com a dificuldade. Nivel 1 = 100 / Nivel 5 = 500.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828800"/>
            <a:ext cx="260604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201168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2C5F2D"/>
                </a:solidFill>
                <a:latin typeface="Calibri"/>
              </a:rPr>
              <a:t>Bonus Eficiencia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94760" y="2606040"/>
            <a:ext cx="2148840" cy="777240"/>
          </a:xfrm>
          <a:prstGeom prst="roundRect">
            <a:avLst/>
          </a:prstGeom>
          <a:solidFill>
            <a:srgbClr val="142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2606040"/>
            <a:ext cx="21488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6AD18A"/>
                </a:solidFill>
                <a:latin typeface="Consolas"/>
              </a:rPr>
              <a:t>+ 50 pontos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3566160"/>
            <a:ext cx="21945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B2B1D"/>
                </a:solidFill>
                <a:latin typeface="Calibri"/>
              </a:rPr>
              <a:t>Cumprir a missao dentro do limite de turnos.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79" y="1828800"/>
            <a:ext cx="260604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79" y="201168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2C5F2D"/>
                </a:solidFill>
                <a:latin typeface="Calibri"/>
              </a:rPr>
              <a:t>Bonus Classe Ideal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79" y="2606040"/>
            <a:ext cx="2148840" cy="777240"/>
          </a:xfrm>
          <a:prstGeom prst="roundRect">
            <a:avLst/>
          </a:prstGeom>
          <a:solidFill>
            <a:srgbClr val="142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79" y="2606040"/>
            <a:ext cx="21488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6AD18A"/>
                </a:solidFill>
                <a:latin typeface="Consolas"/>
              </a:rPr>
              <a:t>nivel x 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79" y="3566160"/>
            <a:ext cx="21945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B2B1D"/>
                </a:solidFill>
                <a:latin typeface="Calibri"/>
              </a:rPr>
              <a:t>Usar a classe adequada para o tipo de missao.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349240"/>
            <a:ext cx="7589520" cy="868680"/>
          </a:xfrm>
          <a:prstGeom prst="round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349240"/>
            <a:ext cx="73152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Total = (nivel x 100) + bonus eficiencia + bonus classe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7C71"/>
                </a:solidFill>
                <a:latin typeface="Calibri"/>
              </a:rPr>
              <a:t>EcoCity  -  RPG Textual  |  APS UNIP 2026/1  -  LPOO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E7C71"/>
                </a:solidFill>
                <a:latin typeface="Calibri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64592" cy="502920"/>
          </a:xfrm>
          <a:prstGeom prst="rect">
            <a:avLst/>
          </a:prstGeom>
          <a:solidFill>
            <a:srgbClr val="6AD1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AD18A"/>
                </a:solidFill>
                <a:latin typeface="Calibri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Demonstracao do Jogo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3657600" cy="2331720"/>
          </a:xfrm>
          <a:prstGeom prst="roundRect">
            <a:avLst/>
          </a:prstGeom>
          <a:solidFill>
            <a:srgbClr val="0A140B"/>
          </a:solidFill>
          <a:ln w="12700">
            <a:solidFill>
              <a:srgbClr val="2C5F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AD18A"/>
                </a:solidFill>
                <a:latin typeface="Consolas"/>
              </a:rPr>
              <a:t>$ MENU PRINCIPAL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33832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C8DAC0"/>
                </a:solidFill>
                <a:latin typeface="Consolas"/>
              </a:rPr>
              <a:t>+==================================+</a:t>
            </a:r>
          </a:p>
          <a:p>
            <a:pPr algn="l"/>
            <a:r>
              <a:rPr sz="850" b="0">
                <a:solidFill>
                  <a:srgbClr val="C8DAC0"/>
                </a:solidFill>
                <a:latin typeface="Consolas"/>
              </a:rPr>
              <a:t>|          ECOCITY - RPG           |</a:t>
            </a:r>
          </a:p>
          <a:p>
            <a:pPr algn="l"/>
            <a:r>
              <a:rPr sz="850" b="0">
                <a:solidFill>
                  <a:srgbClr val="C8DAC0"/>
                </a:solidFill>
                <a:latin typeface="Consolas"/>
              </a:rPr>
              <a:t>+==================================+</a:t>
            </a:r>
          </a:p>
          <a:p>
            <a:pPr algn="l"/>
            <a:r>
              <a:rPr sz="850" b="0">
                <a:solidFill>
                  <a:srgbClr val="C8DAC0"/>
                </a:solidFill>
                <a:latin typeface="Consolas"/>
              </a:rPr>
              <a:t>|  [1] Iniciar Jogo                |</a:t>
            </a:r>
          </a:p>
          <a:p>
            <a:pPr algn="l"/>
            <a:r>
              <a:rPr sz="850" b="0">
                <a:solidFill>
                  <a:srgbClr val="C8DAC0"/>
                </a:solidFill>
                <a:latin typeface="Consolas"/>
              </a:rPr>
              <a:t>|  [2] Instrucoes                  |</a:t>
            </a:r>
          </a:p>
          <a:p>
            <a:pPr algn="l"/>
            <a:r>
              <a:rPr sz="850" b="0">
                <a:solidFill>
                  <a:srgbClr val="C8DAC0"/>
                </a:solidFill>
                <a:latin typeface="Consolas"/>
              </a:rPr>
              <a:t>|  [3] Creditos                    |</a:t>
            </a:r>
          </a:p>
          <a:p>
            <a:pPr algn="l"/>
            <a:r>
              <a:rPr sz="850" b="0">
                <a:solidFill>
                  <a:srgbClr val="C8DAC0"/>
                </a:solidFill>
                <a:latin typeface="Consolas"/>
              </a:rPr>
              <a:t>|  [4] Sair                        |</a:t>
            </a:r>
          </a:p>
          <a:p>
            <a:pPr algn="l"/>
            <a:r>
              <a:rPr sz="850" b="0">
                <a:solidFill>
                  <a:srgbClr val="C8DAC0"/>
                </a:solidFill>
                <a:latin typeface="Consolas"/>
              </a:rPr>
              <a:t>+==================================+</a:t>
            </a:r>
          </a:p>
          <a:p>
            <a:pPr algn="l"/>
            <a:r>
              <a:rPr sz="850" b="0">
                <a:solidFill>
                  <a:srgbClr val="C8DAC0"/>
                </a:solidFill>
                <a:latin typeface="Consolas"/>
              </a:rPr>
              <a:t>   Sua escolha: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60" y="1828800"/>
            <a:ext cx="3657600" cy="2331720"/>
          </a:xfrm>
          <a:prstGeom prst="roundRect">
            <a:avLst/>
          </a:prstGeom>
          <a:solidFill>
            <a:srgbClr val="0A140B"/>
          </a:solidFill>
          <a:ln w="12700">
            <a:solidFill>
              <a:srgbClr val="2C5F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192024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AD18A"/>
                </a:solidFill>
                <a:latin typeface="Consolas"/>
              </a:rPr>
              <a:t>$ ENREDO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240280"/>
            <a:ext cx="33832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C8DAC0"/>
                </a:solidFill>
                <a:latin typeface="Consolas"/>
              </a:rPr>
              <a:t>============================================</a:t>
            </a:r>
          </a:p>
          <a:p>
            <a:pPr algn="l"/>
            <a:r>
              <a:rPr sz="850" b="0">
                <a:solidFill>
                  <a:srgbClr val="C8DAC0"/>
                </a:solidFill>
                <a:latin typeface="Consolas"/>
              </a:rPr>
              <a:t>      E C O C I T Y  -  E N R E D O</a:t>
            </a:r>
          </a:p>
          <a:p>
            <a:pPr algn="l"/>
            <a:r>
              <a:rPr sz="850" b="0">
                <a:solidFill>
                  <a:srgbClr val="C8DAC0"/>
                </a:solidFill>
                <a:latin typeface="Consolas"/>
              </a:rPr>
              <a:t>============================================</a:t>
            </a:r>
          </a:p>
          <a:p>
            <a:pPr algn="l"/>
            <a:r>
              <a:rPr sz="850" b="0">
                <a:solidFill>
                  <a:srgbClr val="C8DAC0"/>
                </a:solidFill>
                <a:latin typeface="Consolas"/>
              </a:rPr>
              <a:t>A cidade foi devastada pela poluicao,</a:t>
            </a:r>
          </a:p>
          <a:p>
            <a:pPr algn="l"/>
            <a:r>
              <a:rPr sz="850" b="0">
                <a:solidFill>
                  <a:srgbClr val="C8DAC0"/>
                </a:solidFill>
                <a:latin typeface="Consolas"/>
              </a:rPr>
              <a:t>pelo desmatamento e por conflitos</a:t>
            </a:r>
          </a:p>
          <a:p>
            <a:pPr algn="l"/>
            <a:r>
              <a:rPr sz="850" b="0">
                <a:solidFill>
                  <a:srgbClr val="C8DAC0"/>
                </a:solidFill>
                <a:latin typeface="Consolas"/>
              </a:rPr>
              <a:t>ambientais.</a:t>
            </a:r>
          </a:p>
          <a:p>
            <a:pPr algn="l"/>
            <a:r>
              <a:rPr sz="850" b="0">
                <a:solidFill>
                  <a:srgbClr val="C8DAC0"/>
                </a:solidFill>
                <a:latin typeface="Consolas"/>
              </a:rPr>
              <a:t/>
            </a:r>
          </a:p>
          <a:p>
            <a:pPr algn="l"/>
            <a:r>
              <a:rPr sz="850" b="0">
                <a:solidFill>
                  <a:srgbClr val="C8DAC0"/>
                </a:solidFill>
                <a:latin typeface="Consolas"/>
              </a:rPr>
              <a:t>Voce decide mudar esse destino...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297680"/>
            <a:ext cx="3657600" cy="2331720"/>
          </a:xfrm>
          <a:prstGeom prst="roundRect">
            <a:avLst/>
          </a:prstGeom>
          <a:solidFill>
            <a:srgbClr val="0A140B"/>
          </a:solidFill>
          <a:ln w="12700">
            <a:solidFill>
              <a:srgbClr val="2C5F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38912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AD18A"/>
                </a:solidFill>
                <a:latin typeface="Consolas"/>
              </a:rPr>
              <a:t>$ MISSAO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709160"/>
            <a:ext cx="33832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C8DAC0"/>
                </a:solidFill>
                <a:latin typeface="Consolas"/>
              </a:rPr>
              <a:t> &gt; NPC 2.1 tem uma missao para voce.</a:t>
            </a:r>
          </a:p>
          <a:p>
            <a:pPr algn="l"/>
            <a:r>
              <a:rPr sz="850" b="0">
                <a:solidFill>
                  <a:srgbClr val="C8DAC0"/>
                </a:solidFill>
                <a:latin typeface="Consolas"/>
              </a:rPr>
              <a:t>   Missao: Despoluir as aguas do rio</a:t>
            </a:r>
          </a:p>
          <a:p>
            <a:pPr algn="l"/>
            <a:r>
              <a:rPr sz="850" b="0">
                <a:solidFill>
                  <a:srgbClr val="C8DAC0"/>
                </a:solidFill>
                <a:latin typeface="Consolas"/>
              </a:rPr>
              <a:t>   Limite: 5 turnos (para bonus)</a:t>
            </a:r>
          </a:p>
          <a:p>
            <a:pPr algn="l"/>
            <a:r>
              <a:rPr sz="850" b="0">
                <a:solidFill>
                  <a:srgbClr val="C8DAC0"/>
                </a:solidFill>
                <a:latin typeface="Consolas"/>
              </a:rPr>
              <a:t>   Como cumprir a missao?</a:t>
            </a:r>
          </a:p>
          <a:p>
            <a:pPr algn="l"/>
            <a:r>
              <a:rPr sz="850" b="0">
                <a:solidFill>
                  <a:srgbClr val="C8DAC0"/>
                </a:solidFill>
                <a:latin typeface="Consolas"/>
              </a:rPr>
              <a:t>    [1] Classe ideal (eficiente)</a:t>
            </a:r>
          </a:p>
          <a:p>
            <a:pPr algn="l"/>
            <a:r>
              <a:rPr sz="850" b="0">
                <a:solidFill>
                  <a:srgbClr val="C8DAC0"/>
                </a:solidFill>
                <a:latin typeface="Consolas"/>
              </a:rPr>
              <a:t>    [2] Abordagem comum</a:t>
            </a:r>
          </a:p>
          <a:p>
            <a:pPr algn="l"/>
            <a:r>
              <a:rPr sz="850" b="0">
                <a:solidFill>
                  <a:srgbClr val="C8DAC0"/>
                </a:solidFill>
                <a:latin typeface="Consolas"/>
              </a:rPr>
              <a:t>    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09160" y="4297680"/>
            <a:ext cx="3657600" cy="2331720"/>
          </a:xfrm>
          <a:prstGeom prst="roundRect">
            <a:avLst/>
          </a:prstGeom>
          <a:solidFill>
            <a:srgbClr val="0A140B"/>
          </a:solidFill>
          <a:ln w="12700">
            <a:solidFill>
              <a:srgbClr val="2C5F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438912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AD18A"/>
                </a:solidFill>
                <a:latin typeface="Consolas"/>
              </a:rPr>
              <a:t>$ FIM DE JOGO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4709160"/>
            <a:ext cx="33832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C8DAC0"/>
                </a:solidFill>
                <a:latin typeface="Consolas"/>
              </a:rPr>
              <a:t>F I M   D E   J O G O</a:t>
            </a:r>
          </a:p>
          <a:p>
            <a:pPr algn="l"/>
            <a:r>
              <a:rPr sz="850" b="0">
                <a:solidFill>
                  <a:srgbClr val="C8DAC0"/>
                </a:solidFill>
                <a:latin typeface="Consolas"/>
              </a:rPr>
              <a:t>============================================</a:t>
            </a:r>
          </a:p>
          <a:p>
            <a:pPr algn="l"/>
            <a:r>
              <a:rPr sz="850" b="0">
                <a:solidFill>
                  <a:srgbClr val="C8DAC0"/>
                </a:solidFill>
                <a:latin typeface="Consolas"/>
              </a:rPr>
              <a:t>A cidade respira de novo.</a:t>
            </a:r>
          </a:p>
          <a:p>
            <a:pPr algn="l"/>
            <a:r>
              <a:rPr sz="850" b="0">
                <a:solidFill>
                  <a:srgbClr val="C8DAC0"/>
                </a:solidFill>
                <a:latin typeface="Consolas"/>
              </a:rPr>
              <a:t>Os rios correm limpos.</a:t>
            </a:r>
          </a:p>
          <a:p>
            <a:pPr algn="l"/>
            <a:r>
              <a:rPr sz="850" b="0">
                <a:solidFill>
                  <a:srgbClr val="C8DAC0"/>
                </a:solidFill>
                <a:latin typeface="Consolas"/>
              </a:rPr>
              <a:t/>
            </a:r>
          </a:p>
          <a:p>
            <a:pPr algn="l"/>
            <a:r>
              <a:rPr sz="850" b="0">
                <a:solidFill>
                  <a:srgbClr val="C8DAC0"/>
                </a:solidFill>
                <a:latin typeface="Consolas"/>
              </a:rPr>
              <a:t>Heroi conquistou o titulo de</a:t>
            </a:r>
          </a:p>
          <a:p>
            <a:pPr algn="l"/>
            <a:r>
              <a:rPr sz="850" b="0">
                <a:solidFill>
                  <a:srgbClr val="C8DAC0"/>
                </a:solidFill>
                <a:latin typeface="Consolas"/>
              </a:rPr>
              <a:t>GUARDIAO DA NATUREZA.</a:t>
            </a:r>
          </a:p>
          <a:p>
            <a:pPr algn="l"/>
            <a:r>
              <a:rPr sz="850" b="0">
                <a:solidFill>
                  <a:srgbClr val="C8DAC0"/>
                </a:solidFill>
                <a:latin typeface="Consolas"/>
              </a:rPr>
              <a:t>  Pontos: 7625  |  Missoes: 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BB0A0"/>
                </a:solidFill>
                <a:latin typeface="Calibri"/>
              </a:rPr>
              <a:t>EcoCity  -  RPG Textual  |  APS UNIP 2026/1  -  LPOO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BB0A0"/>
                </a:solidFill>
                <a:latin typeface="Calibri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64592" cy="50292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C5F2D"/>
                </a:solidFill>
                <a:latin typeface="Calibri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B2B1D"/>
                </a:solidFill>
                <a:latin typeface="Calibri"/>
              </a:rPr>
              <a:t>Estrutura do Codigo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E7C71"/>
                </a:solidFill>
                <a:latin typeface="Calibri"/>
              </a:rPr>
              <a:t>14 arquivos .java organizados em 7 pacotes - cada um com 1 responsabilidade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377440"/>
            <a:ext cx="75895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77440"/>
            <a:ext cx="164592" cy="50292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377440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2C5F2D"/>
                </a:solidFill>
                <a:latin typeface="Consolas"/>
              </a:rPr>
              <a:t>Main.java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377440"/>
            <a:ext cx="4389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B2B1D"/>
                </a:solidFill>
                <a:latin typeface="Calibri"/>
              </a:rPr>
              <a:t>ponto de entrada do jogo (menu)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926080"/>
            <a:ext cx="75895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926080"/>
            <a:ext cx="164592" cy="50292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926080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2C5F2D"/>
                </a:solidFill>
                <a:latin typeface="Consolas"/>
              </a:rPr>
              <a:t>ui/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2926080"/>
            <a:ext cx="4389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B2B1D"/>
                </a:solidFill>
                <a:latin typeface="Calibri"/>
              </a:rPr>
              <a:t>Terminal: limpa tela + aguarda ENTER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474720"/>
            <a:ext cx="75895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474720"/>
            <a:ext cx="164592" cy="50292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474720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2C5F2D"/>
                </a:solidFill>
                <a:latin typeface="Consolas"/>
              </a:rPr>
              <a:t>personagens/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3474720"/>
            <a:ext cx="4389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B2B1D"/>
                </a:solidFill>
                <a:latin typeface="Calibri"/>
              </a:rPr>
              <a:t>Personagem (abstrata) + 5 niveis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023360"/>
            <a:ext cx="75895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4023360"/>
            <a:ext cx="164592" cy="50292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023360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2C5F2D"/>
                </a:solidFill>
                <a:latin typeface="Consolas"/>
              </a:rPr>
              <a:t>missoes/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4023360"/>
            <a:ext cx="4389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B2B1D"/>
                </a:solidFill>
                <a:latin typeface="Calibri"/>
              </a:rPr>
              <a:t>Interface Missao + MissaoEcologica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572000"/>
            <a:ext cx="75895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572000"/>
            <a:ext cx="164592" cy="50292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4572000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2C5F2D"/>
                </a:solidFill>
                <a:latin typeface="Consolas"/>
              </a:rPr>
              <a:t>npc/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4572000"/>
            <a:ext cx="4389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B2B1D"/>
                </a:solidFill>
                <a:latin typeface="Calibri"/>
              </a:rPr>
              <a:t>NPC entrega missoes ao jogador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5120640"/>
            <a:ext cx="75895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5120640"/>
            <a:ext cx="164592" cy="50292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5120640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2C5F2D"/>
                </a:solidFill>
                <a:latin typeface="Consolas"/>
              </a:rPr>
              <a:t>sistema/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1920" y="5120640"/>
            <a:ext cx="4389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B2B1D"/>
                </a:solidFill>
                <a:latin typeface="Calibri"/>
              </a:rPr>
              <a:t>Jogo (orquestra) + Pontuacao (calcula)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5669279"/>
            <a:ext cx="75895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5669279"/>
            <a:ext cx="164592" cy="50292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5669279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2C5F2D"/>
                </a:solidFill>
                <a:latin typeface="Consolas"/>
              </a:rPr>
              <a:t>excecoes/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31920" y="5669279"/>
            <a:ext cx="4389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B2B1D"/>
                </a:solidFill>
                <a:latin typeface="Calibri"/>
              </a:rPr>
              <a:t>EntradaInvalidaException (customizada)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7C71"/>
                </a:solidFill>
                <a:latin typeface="Calibri"/>
              </a:rPr>
              <a:t>EcoCity  -  RPG Textual  |  APS UNIP 2026/1  -  LPOO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E7C71"/>
                </a:solidFill>
                <a:latin typeface="Calibri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64592" cy="50292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C5F2D"/>
                </a:solidFill>
                <a:latin typeface="Calibri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B2B1D"/>
                </a:solidFill>
                <a:latin typeface="Calibri"/>
              </a:rPr>
              <a:t>Conceitos de O.O. e Hierarquia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C5F2D"/>
                </a:solidFill>
                <a:latin typeface="Calibri"/>
              </a:rPr>
              <a:t>9 CONCEITOS APLICADOS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2359152"/>
            <a:ext cx="146304" cy="146304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02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B2B1D"/>
                </a:solidFill>
                <a:latin typeface="Calibri"/>
              </a:rPr>
              <a:t>Encapsulamento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43200"/>
            <a:ext cx="146304" cy="146304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62432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B2B1D"/>
                </a:solidFill>
                <a:latin typeface="Calibri"/>
              </a:rPr>
              <a:t>Construtores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127248"/>
            <a:ext cx="146304" cy="146304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008376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B2B1D"/>
                </a:solidFill>
                <a:latin typeface="Calibri"/>
              </a:rPr>
              <a:t>Heranca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511296"/>
            <a:ext cx="146304" cy="146304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392424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B2B1D"/>
                </a:solidFill>
                <a:latin typeface="Calibri"/>
              </a:rPr>
              <a:t>Sobrecarga (overload)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3895344"/>
            <a:ext cx="146304" cy="146304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77647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B2B1D"/>
                </a:solidFill>
                <a:latin typeface="Calibri"/>
              </a:rPr>
              <a:t>Sobrescrita (override)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4279392"/>
            <a:ext cx="146304" cy="146304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1605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B2B1D"/>
                </a:solidFill>
                <a:latin typeface="Calibri"/>
              </a:rPr>
              <a:t>Classe Abstrata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4663440"/>
            <a:ext cx="146304" cy="146304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54456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B2B1D"/>
                </a:solidFill>
                <a:latin typeface="Calibri"/>
              </a:rPr>
              <a:t>Metodo Abstrato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5047488"/>
            <a:ext cx="146304" cy="146304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928616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B2B1D"/>
                </a:solidFill>
                <a:latin typeface="Calibri"/>
              </a:rPr>
              <a:t>Interface</a:t>
            </a:r>
          </a:p>
        </p:txBody>
      </p:sp>
      <p:sp>
        <p:nvSpPr>
          <p:cNvPr id="22" name="Oval 21"/>
          <p:cNvSpPr/>
          <p:nvPr/>
        </p:nvSpPr>
        <p:spPr>
          <a:xfrm>
            <a:off x="777240" y="5431536"/>
            <a:ext cx="146304" cy="146304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312664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B2B1D"/>
                </a:solidFill>
                <a:latin typeface="Calibri"/>
              </a:rPr>
              <a:t>Tratamento de Excecoes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17830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C5F2D"/>
                </a:solidFill>
                <a:latin typeface="Calibri"/>
              </a:rPr>
              <a:t>HIERARQUIA DE CLASSES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52160" y="2286000"/>
            <a:ext cx="2286000" cy="640080"/>
          </a:xfrm>
          <a:prstGeom prst="round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52160" y="233172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97BC62"/>
                </a:solidFill>
                <a:latin typeface="Calibri"/>
              </a:rPr>
              <a:t>abstract class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0" y="254203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Personagem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52160" y="3246120"/>
            <a:ext cx="22860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C5F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0" y="3310127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97BC62"/>
                </a:solidFill>
                <a:latin typeface="Calibri"/>
              </a:rPr>
              <a:t>N1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310127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B2B1D"/>
                </a:solidFill>
                <a:latin typeface="Calibri"/>
              </a:rPr>
              <a:t>Explorador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852160" y="3749039"/>
            <a:ext cx="22860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C5F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0" y="381304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97BC62"/>
                </a:solidFill>
                <a:latin typeface="Calibri"/>
              </a:rPr>
              <a:t>N2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8130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B2B1D"/>
                </a:solidFill>
                <a:latin typeface="Calibri"/>
              </a:rPr>
              <a:t>Descontamin.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852160" y="4251960"/>
            <a:ext cx="22860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C5F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0" y="431596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97BC62"/>
                </a:solidFill>
                <a:latin typeface="Calibri"/>
              </a:rPr>
              <a:t>N3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431596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B2B1D"/>
                </a:solidFill>
                <a:latin typeface="Calibri"/>
              </a:rPr>
              <a:t>Botanico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852160" y="4754880"/>
            <a:ext cx="22860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C5F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0" y="481888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97BC62"/>
                </a:solidFill>
                <a:latin typeface="Calibri"/>
              </a:rPr>
              <a:t>N4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81888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B2B1D"/>
                </a:solidFill>
                <a:latin typeface="Calibri"/>
              </a:rPr>
              <a:t>Construtor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852160" y="5257800"/>
            <a:ext cx="22860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C5F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0" y="532180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97BC62"/>
                </a:solidFill>
                <a:latin typeface="Calibri"/>
              </a:rPr>
              <a:t>N5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532180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B2B1D"/>
                </a:solidFill>
                <a:latin typeface="Calibri"/>
              </a:rPr>
              <a:t>Guardiao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09160" y="580644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E7C71"/>
                </a:solidFill>
                <a:latin typeface="Calibri"/>
              </a:rPr>
              <a:t>5 subclasses herdam de Personagem (abstrata).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7C71"/>
                </a:solidFill>
                <a:latin typeface="Calibri"/>
              </a:rPr>
              <a:t>EcoCity  -  RPG Textual  |  APS UNIP 2026/1  -  LPOO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0392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E7C71"/>
                </a:solidFill>
                <a:latin typeface="Calibri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64592" cy="502920"/>
          </a:xfrm>
          <a:prstGeom prst="rect">
            <a:avLst/>
          </a:prstGeom>
          <a:solidFill>
            <a:srgbClr val="6AD1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AD18A"/>
                </a:solidFill>
                <a:latin typeface="Calibri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Em Codigo  -  Entrega e Encerramento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AD18A"/>
                </a:solidFill>
                <a:latin typeface="Calibri"/>
              </a:rPr>
              <a:t>EXEMPLO: TRATAMENTO DE EXCECAO NO MENU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240280"/>
            <a:ext cx="7589520" cy="2286000"/>
          </a:xfrm>
          <a:prstGeom prst="roundRect">
            <a:avLst/>
          </a:prstGeom>
          <a:solidFill>
            <a:srgbClr val="0A140B"/>
          </a:solidFill>
          <a:ln w="12700">
            <a:solidFill>
              <a:srgbClr val="2C5F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7315200" cy="2148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6AD18A"/>
                </a:solidFill>
                <a:latin typeface="Consolas"/>
              </a:rPr>
              <a:t>try {</a:t>
            </a:r>
          </a:p>
          <a:p>
            <a:pPr algn="l"/>
            <a:r>
              <a:rPr sz="1150" b="0">
                <a:solidFill>
                  <a:srgbClr val="6AD18A"/>
                </a:solidFill>
                <a:latin typeface="Consolas"/>
              </a:rPr>
              <a:t>    int opcao = Integer.parseInt(scanner.nextLine().trim());</a:t>
            </a:r>
          </a:p>
          <a:p>
            <a:pPr algn="l"/>
            <a:r>
              <a:rPr sz="1150" b="0">
                <a:solidFill>
                  <a:srgbClr val="6AD18A"/>
                </a:solidFill>
                <a:latin typeface="Consolas"/>
              </a:rPr>
              <a:t>    if (opcao &lt; 1 || opcao &gt; 4)</a:t>
            </a:r>
          </a:p>
          <a:p>
            <a:pPr algn="l"/>
            <a:r>
              <a:rPr sz="1150" b="0">
                <a:solidFill>
                  <a:srgbClr val="6AD18A"/>
                </a:solidFill>
                <a:latin typeface="Consolas"/>
              </a:rPr>
              <a:t>        throw new EntradaInvalidaException("Opcao invalida.");</a:t>
            </a:r>
          </a:p>
          <a:p>
            <a:pPr algn="l"/>
            <a:r>
              <a:rPr sz="1150" b="0">
                <a:solidFill>
                  <a:srgbClr val="6AD18A"/>
                </a:solidFill>
                <a:latin typeface="Consolas"/>
              </a:rPr>
              <a:t>    // ... executa a opcao escolhida ...</a:t>
            </a:r>
          </a:p>
          <a:p>
            <a:pPr algn="l"/>
            <a:r>
              <a:rPr sz="1150" b="0">
                <a:solidFill>
                  <a:srgbClr val="6AD18A"/>
                </a:solidFill>
                <a:latin typeface="Consolas"/>
              </a:rPr>
              <a:t>} catch (NumberFormatException e) {</a:t>
            </a:r>
          </a:p>
          <a:p>
            <a:pPr algn="l"/>
            <a:r>
              <a:rPr sz="1150" b="0">
                <a:solidFill>
                  <a:srgbClr val="6AD18A"/>
                </a:solidFill>
                <a:latin typeface="Consolas"/>
              </a:rPr>
              <a:t>    System.out.println("[ERRO] Digite apenas numeros.");</a:t>
            </a:r>
          </a:p>
          <a:p>
            <a:pPr algn="l"/>
            <a:r>
              <a:rPr sz="1150" b="0">
                <a:solidFill>
                  <a:srgbClr val="6AD18A"/>
                </a:solidFill>
                <a:latin typeface="Consolas"/>
              </a:rPr>
              <a:t>} catch (EntradaInvalidaException e) {</a:t>
            </a:r>
          </a:p>
          <a:p>
            <a:pPr algn="l"/>
            <a:r>
              <a:rPr sz="1150" b="0">
                <a:solidFill>
                  <a:srgbClr val="6AD18A"/>
                </a:solidFill>
                <a:latin typeface="Consolas"/>
              </a:rPr>
              <a:t>    System.out.println("[ERRO] " + e.getMessage());</a:t>
            </a:r>
          </a:p>
          <a:p>
            <a:pPr algn="l"/>
            <a:r>
              <a:rPr sz="1150" b="0">
                <a:solidFill>
                  <a:srgbClr val="6AD18A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754880"/>
            <a:ext cx="7589520" cy="1371600"/>
          </a:xfrm>
          <a:prstGeom prst="round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463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97BC62"/>
                </a:solidFill>
                <a:latin typeface="Calibri"/>
              </a:rPr>
              <a:t>REPOSITORIO PUBLICO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12064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onsolas"/>
              </a:rPr>
              <a:t>github.com/BielmFranco/EcoCity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6235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AD18A"/>
                </a:solidFill>
                <a:latin typeface="Calibri"/>
              </a:rPr>
              <a:t>Clone, fork ou download ZIP - codigo aberto.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BB0A0"/>
                </a:solidFill>
                <a:latin typeface="Calibri"/>
              </a:rPr>
              <a:t>EcoCity  -  RPG Textual  |  APS UNIP 2026/1  -  LPOO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BB0A0"/>
                </a:solidFill>
                <a:latin typeface="Calibri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-731520"/>
            <a:ext cx="2743200" cy="2743200"/>
          </a:xfrm>
          <a:prstGeom prst="ellipse">
            <a:avLst/>
          </a:prstGeom>
          <a:solidFill>
            <a:srgbClr val="142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858000" y="5029200"/>
            <a:ext cx="4114800" cy="4114800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79" y="5669280"/>
            <a:ext cx="2743200" cy="2743200"/>
          </a:xfrm>
          <a:prstGeom prst="ellipse">
            <a:avLst/>
          </a:prstGeom>
          <a:solidFill>
            <a:srgbClr val="142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8229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0" b="1">
                <a:solidFill>
                  <a:srgbClr val="FFFFFF"/>
                </a:solidFill>
                <a:latin typeface="Calibri"/>
              </a:rPr>
              <a:t>Obrigado!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2926080"/>
            <a:ext cx="822960" cy="45720"/>
          </a:xfrm>
          <a:prstGeom prst="rect">
            <a:avLst/>
          </a:prstGeom>
          <a:solidFill>
            <a:srgbClr val="6AD1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108960"/>
            <a:ext cx="7772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6AD18A"/>
                </a:solidFill>
                <a:latin typeface="Calibri"/>
              </a:rPr>
              <a:t>Pela atencao a apresentacao do projeto EcoCity.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70332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8DAC0"/>
                </a:solidFill>
                <a:latin typeface="Calibri"/>
              </a:rPr>
              <a:t>Perguntas, sugestoes e ideias sao muito bem-vindas.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5720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AD18A"/>
                </a:solidFill>
                <a:latin typeface="Calibri"/>
              </a:rPr>
              <a:t>GRUPO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864608"/>
            <a:ext cx="8229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Consolas"/>
              </a:rPr>
              <a:t>Alessandra Cristina da Silva Souza  -  R799565</a:t>
            </a:r>
          </a:p>
          <a:p>
            <a:pPr algn="l"/>
            <a:r>
              <a:rPr sz="1050" b="0">
                <a:solidFill>
                  <a:srgbClr val="FFFFFF"/>
                </a:solidFill>
                <a:latin typeface="Consolas"/>
              </a:rPr>
              <a:t>Caetano de Paula Telles Ribeiro     -  R688GC4</a:t>
            </a:r>
          </a:p>
          <a:p>
            <a:pPr algn="l"/>
            <a:r>
              <a:rPr sz="1050" b="0">
                <a:solidFill>
                  <a:srgbClr val="FFFFFF"/>
                </a:solidFill>
                <a:latin typeface="Consolas"/>
              </a:rPr>
              <a:t>Jhonnatan Pereira Santos            -  R363JH0</a:t>
            </a:r>
          </a:p>
          <a:p>
            <a:pPr algn="l"/>
            <a:r>
              <a:rPr sz="1050" b="0">
                <a:solidFill>
                  <a:srgbClr val="FFFFFF"/>
                </a:solidFill>
                <a:latin typeface="Consolas"/>
              </a:rPr>
              <a:t>Guilherme Moraes Franco             -  H386632</a:t>
            </a:r>
          </a:p>
          <a:p>
            <a:pPr algn="l"/>
            <a:r>
              <a:rPr sz="1050" b="0">
                <a:solidFill>
                  <a:srgbClr val="FFFFFF"/>
                </a:solidFill>
                <a:latin typeface="Consolas"/>
              </a:rPr>
              <a:t>Gabriel Moraes Franco               -  H384338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BB0A0"/>
                </a:solidFill>
                <a:latin typeface="Calibri"/>
              </a:rPr>
              <a:t>EcoCity  -  RPG Textual  |  APS UNIP 2026/1  -  LPOO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BB0A0"/>
                </a:solidFill>
                <a:latin typeface="Calibri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