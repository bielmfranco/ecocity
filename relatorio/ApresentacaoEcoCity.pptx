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858000" y="-1371600"/>
            <a:ext cx="4114800" cy="41148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98079" y="-731520"/>
            <a:ext cx="2743200" cy="2743200"/>
          </a:xfrm>
          <a:prstGeom prst="ellipse">
            <a:avLst/>
          </a:prstGeom>
          <a:solidFill>
            <a:srgbClr val="142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5029200"/>
            <a:ext cx="4114800" cy="41148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731520" y="5669280"/>
            <a:ext cx="2743200" cy="2743200"/>
          </a:xfrm>
          <a:prstGeom prst="ellipse">
            <a:avLst/>
          </a:prstGeom>
          <a:solidFill>
            <a:srgbClr val="142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7BC62"/>
                </a:solidFill>
                <a:latin typeface="Calibri"/>
              </a:rPr>
              <a:t>APS UNIP 2026/1  -  LPOO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1">
                <a:solidFill>
                  <a:srgbClr val="FFFFFF"/>
                </a:solidFill>
                <a:latin typeface="Calibri"/>
              </a:rPr>
              <a:t>EcoCity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0040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6AD18A"/>
                </a:solidFill>
                <a:latin typeface="Calibri"/>
              </a:rPr>
              <a:t>RPG Textual em Java  -  Conscientizacao Ambiental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794760"/>
            <a:ext cx="822960" cy="45720"/>
          </a:xfrm>
          <a:prstGeom prst="rect">
            <a:avLst/>
          </a:prstGeom>
          <a:solidFill>
            <a:srgbClr val="6AD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023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8DAC0"/>
                </a:solidFill>
                <a:latin typeface="Calibri"/>
              </a:rPr>
              <a:t>Universidade Paulista  -  Ciencia da Computacao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3434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BB0A0"/>
                </a:solidFill>
                <a:latin typeface="Calibri"/>
              </a:rPr>
              <a:t>Orientador: Prof. Carlos Baltazar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029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AD18A"/>
                </a:solidFill>
                <a:latin typeface="Calibri"/>
              </a:rPr>
              <a:t>GRUPO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349240"/>
            <a:ext cx="8229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Consolas"/>
              </a:rPr>
              <a:t>Alessandra Cristina da Silva Souza  -  R799565</a:t>
            </a:r>
          </a:p>
          <a:p>
            <a:pPr algn="l"/>
            <a:r>
              <a:rPr sz="1150" b="0">
                <a:solidFill>
                  <a:srgbClr val="FFFFFF"/>
                </a:solidFill>
                <a:latin typeface="Consolas"/>
              </a:rPr>
              <a:t>Caetano de Paula Telles Ribeiro     -  R688GC4</a:t>
            </a:r>
          </a:p>
          <a:p>
            <a:pPr algn="l"/>
            <a:r>
              <a:rPr sz="1150" b="0">
                <a:solidFill>
                  <a:srgbClr val="FFFFFF"/>
                </a:solidFill>
                <a:latin typeface="Consolas"/>
              </a:rPr>
              <a:t>Jhonnatan Pereira Santos            -  R363JH0</a:t>
            </a:r>
          </a:p>
          <a:p>
            <a:pPr algn="l"/>
            <a:r>
              <a:rPr sz="1150" b="0">
                <a:solidFill>
                  <a:srgbClr val="FFFFFF"/>
                </a:solidFill>
                <a:latin typeface="Consolas"/>
              </a:rPr>
              <a:t>Guilherme Moraes Franco             -  H386632</a:t>
            </a:r>
          </a:p>
          <a:p>
            <a:pPr algn="l"/>
            <a:r>
              <a:rPr sz="1150" b="0">
                <a:solidFill>
                  <a:srgbClr val="FFFFFF"/>
                </a:solidFill>
                <a:latin typeface="Consolas"/>
              </a:rPr>
              <a:t>Gabriel Moraes Franco               -  H384338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NAVEGACAO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Sumario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8745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B1D"/>
                </a:solidFill>
                <a:latin typeface="Calibri"/>
              </a:rPr>
              <a:t>Objetivo do Projeto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60604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060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6517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B1D"/>
                </a:solidFill>
                <a:latin typeface="Calibri"/>
              </a:rPr>
              <a:t>Enredo do Jogo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38328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832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429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B1D"/>
                </a:solidFill>
                <a:latin typeface="Calibri"/>
              </a:rPr>
              <a:t>Tecnologias Utilizadas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416052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605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2062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B1D"/>
                </a:solidFill>
                <a:latin typeface="Calibri"/>
              </a:rPr>
              <a:t>Niveis e Evolucao do Personagem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493776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937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9834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B1D"/>
                </a:solidFill>
                <a:latin typeface="Calibri"/>
              </a:rPr>
              <a:t>Missoes e NPCs</a:t>
            </a:r>
          </a:p>
        </p:txBody>
      </p:sp>
      <p:sp>
        <p:nvSpPr>
          <p:cNvPr id="20" name="Oval 19"/>
          <p:cNvSpPr/>
          <p:nvPr/>
        </p:nvSpPr>
        <p:spPr>
          <a:xfrm>
            <a:off x="4937760" y="182880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60" y="18288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18745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B1D"/>
                </a:solidFill>
                <a:latin typeface="Calibri"/>
              </a:rPr>
              <a:t>Sistema de Pontuacao</a:t>
            </a:r>
          </a:p>
        </p:txBody>
      </p:sp>
      <p:sp>
        <p:nvSpPr>
          <p:cNvPr id="23" name="Oval 22"/>
          <p:cNvSpPr/>
          <p:nvPr/>
        </p:nvSpPr>
        <p:spPr>
          <a:xfrm>
            <a:off x="4937760" y="260604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0" y="26060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26517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B1D"/>
                </a:solidFill>
                <a:latin typeface="Calibri"/>
              </a:rPr>
              <a:t>Demonstracao do Jogo</a:t>
            </a:r>
          </a:p>
        </p:txBody>
      </p:sp>
      <p:sp>
        <p:nvSpPr>
          <p:cNvPr id="26" name="Oval 25"/>
          <p:cNvSpPr/>
          <p:nvPr/>
        </p:nvSpPr>
        <p:spPr>
          <a:xfrm>
            <a:off x="4937760" y="338328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0" y="33832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3429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B1D"/>
                </a:solidFill>
                <a:latin typeface="Calibri"/>
              </a:rPr>
              <a:t>Estrutura do Codigo</a:t>
            </a:r>
          </a:p>
        </p:txBody>
      </p:sp>
      <p:sp>
        <p:nvSpPr>
          <p:cNvPr id="29" name="Oval 28"/>
          <p:cNvSpPr/>
          <p:nvPr/>
        </p:nvSpPr>
        <p:spPr>
          <a:xfrm>
            <a:off x="4937760" y="416052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7760" y="41605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77840" y="42062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B1D"/>
                </a:solidFill>
                <a:latin typeface="Calibri"/>
              </a:rPr>
              <a:t>Conceitos de O.O. e Hierarquia</a:t>
            </a:r>
          </a:p>
        </p:txBody>
      </p:sp>
      <p:sp>
        <p:nvSpPr>
          <p:cNvPr id="32" name="Oval 31"/>
          <p:cNvSpPr/>
          <p:nvPr/>
        </p:nvSpPr>
        <p:spPr>
          <a:xfrm>
            <a:off x="4937760" y="493776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37760" y="4937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0" y="49834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B1D"/>
                </a:solidFill>
                <a:latin typeface="Calibri"/>
              </a:rPr>
              <a:t>Exemplo de Codigo e Entrega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E7C71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Objetivo do Projeto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3931920" cy="411480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7BC62"/>
                </a:solidFill>
                <a:latin typeface="Calibri"/>
              </a:rPr>
              <a:t>META PRINCIPAL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3657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Aplicar Programacao Orientada</a:t>
            </a:r>
          </a:p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a Objetos no desenvolvimento</a:t>
            </a:r>
          </a:p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de um RPG textual em Java,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57200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6AD18A"/>
                </a:solidFill>
                <a:latin typeface="Calibri"/>
              </a:rPr>
              <a:t>promovendo a conscientizacao</a:t>
            </a:r>
          </a:p>
          <a:p>
            <a:pPr algn="l"/>
            <a:r>
              <a:rPr sz="1600" b="0">
                <a:solidFill>
                  <a:srgbClr val="6AD18A"/>
                </a:solidFill>
                <a:latin typeface="Calibri"/>
              </a:rPr>
              <a:t>ambiental atraves de</a:t>
            </a:r>
          </a:p>
          <a:p>
            <a:pPr algn="l"/>
            <a:r>
              <a:rPr sz="1600" b="0">
                <a:solidFill>
                  <a:srgbClr val="6AD18A"/>
                </a:solidFill>
                <a:latin typeface="Calibri"/>
              </a:rPr>
              <a:t>mecanicas de jogo.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874519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C5F2D"/>
                </a:solidFill>
                <a:latin typeface="Calibri"/>
              </a:rPr>
              <a:t>ENTREGAS TECNICAS</a:t>
            </a:r>
          </a:p>
        </p:txBody>
      </p:sp>
      <p:sp>
        <p:nvSpPr>
          <p:cNvPr id="10" name="Oval 9"/>
          <p:cNvSpPr/>
          <p:nvPr/>
        </p:nvSpPr>
        <p:spPr>
          <a:xfrm>
            <a:off x="5120640" y="2496312"/>
            <a:ext cx="164592" cy="164592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3317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B2B1D"/>
                </a:solidFill>
                <a:latin typeface="Calibri"/>
              </a:rPr>
              <a:t>RPG textual rodando no console</a:t>
            </a:r>
          </a:p>
        </p:txBody>
      </p:sp>
      <p:sp>
        <p:nvSpPr>
          <p:cNvPr id="12" name="Oval 11"/>
          <p:cNvSpPr/>
          <p:nvPr/>
        </p:nvSpPr>
        <p:spPr>
          <a:xfrm>
            <a:off x="5120640" y="3044952"/>
            <a:ext cx="164592" cy="164592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28803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B2B1D"/>
                </a:solidFill>
                <a:latin typeface="Calibri"/>
              </a:rPr>
              <a:t>5 niveis de evolucao do personagem</a:t>
            </a:r>
          </a:p>
        </p:txBody>
      </p:sp>
      <p:sp>
        <p:nvSpPr>
          <p:cNvPr id="14" name="Oval 13"/>
          <p:cNvSpPr/>
          <p:nvPr/>
        </p:nvSpPr>
        <p:spPr>
          <a:xfrm>
            <a:off x="5120640" y="3593592"/>
            <a:ext cx="164592" cy="164592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0680" y="3429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B2B1D"/>
                </a:solidFill>
                <a:latin typeface="Calibri"/>
              </a:rPr>
              <a:t>15 missoes ecologicas tematicas</a:t>
            </a:r>
          </a:p>
        </p:txBody>
      </p:sp>
      <p:sp>
        <p:nvSpPr>
          <p:cNvPr id="16" name="Oval 15"/>
          <p:cNvSpPr/>
          <p:nvPr/>
        </p:nvSpPr>
        <p:spPr>
          <a:xfrm>
            <a:off x="5120640" y="4142231"/>
            <a:ext cx="164592" cy="164592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397763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B2B1D"/>
                </a:solidFill>
                <a:latin typeface="Calibri"/>
              </a:rPr>
              <a:t>Sistema de pontuacao com bonus</a:t>
            </a:r>
          </a:p>
        </p:txBody>
      </p:sp>
      <p:sp>
        <p:nvSpPr>
          <p:cNvPr id="18" name="Oval 17"/>
          <p:cNvSpPr/>
          <p:nvPr/>
        </p:nvSpPr>
        <p:spPr>
          <a:xfrm>
            <a:off x="5120640" y="4690871"/>
            <a:ext cx="164592" cy="164592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452627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B2B1D"/>
                </a:solidFill>
                <a:latin typeface="Calibri"/>
              </a:rPr>
              <a:t>9 conceitos de O.O. aplicados</a:t>
            </a:r>
          </a:p>
        </p:txBody>
      </p:sp>
      <p:sp>
        <p:nvSpPr>
          <p:cNvPr id="20" name="Oval 19"/>
          <p:cNvSpPr/>
          <p:nvPr/>
        </p:nvSpPr>
        <p:spPr>
          <a:xfrm>
            <a:off x="5120640" y="5239512"/>
            <a:ext cx="164592" cy="164592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5074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B2B1D"/>
                </a:solidFill>
                <a:latin typeface="Calibri"/>
              </a:rPr>
              <a:t>Tratamento de excecoes (try-catch)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E7C71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6AD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AD18A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Enredo do Jogo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7772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A historia se passa em uma cidade devastada pela</a:t>
            </a:r>
          </a:p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poluicao, pelo desmatamento e por conflitos ambientais.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08960"/>
            <a:ext cx="7772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C8DAC0"/>
                </a:solidFill>
                <a:latin typeface="Calibri"/>
              </a:rPr>
              <a:t>O jogador deve cumprir missoes ecologicas para restaurar o</a:t>
            </a:r>
          </a:p>
          <a:p>
            <a:pPr algn="l"/>
            <a:r>
              <a:rPr sz="1500" b="0">
                <a:solidFill>
                  <a:srgbClr val="C8DAC0"/>
                </a:solidFill>
                <a:latin typeface="Calibri"/>
              </a:rPr>
              <a:t>equilibrio ambiental, evoluindo progressivamente do nivel</a:t>
            </a:r>
          </a:p>
          <a:p>
            <a:pPr algn="l"/>
            <a:r>
              <a:rPr sz="1500" b="0">
                <a:solidFill>
                  <a:srgbClr val="C8DAC0"/>
                </a:solidFill>
                <a:latin typeface="Calibri"/>
              </a:rPr>
              <a:t>1 (Explorador) ate alcancar o titulo de Guardiao da Natureza.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212080"/>
            <a:ext cx="1463040" cy="82296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28523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7BC62"/>
                </a:solidFill>
                <a:latin typeface="Calibri"/>
              </a:rPr>
              <a:t>Nivel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321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Explorador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5440680"/>
            <a:ext cx="182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6AD18A"/>
                </a:solidFill>
                <a:latin typeface="Calibri"/>
              </a:rP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5212080"/>
            <a:ext cx="1463040" cy="82296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528523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7BC62"/>
                </a:solidFill>
                <a:latin typeface="Calibri"/>
              </a:rPr>
              <a:t>Nivel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55321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Descontaminador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5440680"/>
            <a:ext cx="182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6AD18A"/>
                </a:solidFill>
                <a:latin typeface="Calibri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9080" y="5212080"/>
            <a:ext cx="1463040" cy="82296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69080" y="528523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7BC62"/>
                </a:solidFill>
                <a:latin typeface="Calibri"/>
              </a:rPr>
              <a:t>Nivel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80" y="55321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Botanico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2120" y="5440680"/>
            <a:ext cx="182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6AD18A"/>
                </a:solidFill>
                <a:latin typeface="Calibri"/>
              </a:rPr>
              <a:t>&gt;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0" y="5212080"/>
            <a:ext cx="1463040" cy="82296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5000" y="528523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7BC62"/>
                </a:solidFill>
                <a:latin typeface="Calibri"/>
              </a:rPr>
              <a:t>Nivel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55321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Construtor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5440680"/>
            <a:ext cx="182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6AD18A"/>
                </a:solidFill>
                <a:latin typeface="Calibri"/>
              </a:rPr>
              <a:t>&gt;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60920" y="5212080"/>
            <a:ext cx="1463040" cy="82296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60920" y="528523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7BC62"/>
                </a:solidFill>
                <a:latin typeface="Calibri"/>
              </a:rPr>
              <a:t>Nivel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55321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Guardiao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BB0A0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BB0A0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Tecnologias Utilizadas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38404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1560" y="2103120"/>
            <a:ext cx="548640" cy="54864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103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194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2C5F2D"/>
                </a:solidFill>
                <a:latin typeface="Calibri"/>
              </a:rPr>
              <a:t>Java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880360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B2B1D"/>
                </a:solidFill>
                <a:latin typeface="Calibri"/>
              </a:rPr>
              <a:t>Linguagem orientada a objetos. JDK Microsoft OpenJDK 21.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828800"/>
            <a:ext cx="38404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46320" y="2103120"/>
            <a:ext cx="548640" cy="54864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103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2194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2C5F2D"/>
                </a:solidFill>
                <a:latin typeface="Calibri"/>
              </a:rPr>
              <a:t>Console / Terminal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880360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B2B1D"/>
                </a:solidFill>
                <a:latin typeface="Calibri"/>
              </a:rPr>
              <a:t>Interface textual. Encoding UTF-8 e escape ANSI.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14800"/>
            <a:ext cx="38404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51560" y="4389120"/>
            <a:ext cx="548640" cy="54864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389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480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2C5F2D"/>
                </a:solidFill>
                <a:latin typeface="Calibri"/>
              </a:rPr>
              <a:t>Git + GitHub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166360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B2B1D"/>
                </a:solidFill>
                <a:latin typeface="Calibri"/>
              </a:rPr>
              <a:t>Versionamento e hospedagem publica do projeto.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0" y="4114800"/>
            <a:ext cx="38404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46320" y="4389120"/>
            <a:ext cx="548640" cy="54864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4389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4480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2C5F2D"/>
                </a:solidFill>
                <a:latin typeface="Calibri"/>
              </a:rPr>
              <a:t>Markdown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5166360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B2B1D"/>
                </a:solidFill>
                <a:latin typeface="Calibri"/>
              </a:rPr>
              <a:t>Documentacao tecnica: README e TUTORIAL.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E7C71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Niveis e Evolucao do Personagem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E7C71"/>
                </a:solidFill>
                <a:latin typeface="Calibri"/>
              </a:rPr>
              <a:t>5 niveis progressivos - o jogador evolui ao completar todas as missoes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75895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640080" cy="713232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640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450591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C5F2D"/>
                </a:solidFill>
                <a:latin typeface="Calibri"/>
              </a:rPr>
              <a:t>Explorador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715768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B1D"/>
                </a:solidFill>
                <a:latin typeface="Calibri"/>
              </a:rPr>
              <a:t>Iniciante. Descobre o que restou da natureza.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136391"/>
            <a:ext cx="75895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136391"/>
            <a:ext cx="640080" cy="713232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136391"/>
            <a:ext cx="640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255263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C5F2D"/>
                </a:solidFill>
                <a:latin typeface="Calibri"/>
              </a:rPr>
              <a:t>Descontaminador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520439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B1D"/>
                </a:solidFill>
                <a:latin typeface="Calibri"/>
              </a:rPr>
              <a:t>Limpa solo, agua e ar da cidade.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941063"/>
            <a:ext cx="75895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941063"/>
            <a:ext cx="640080" cy="713232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941063"/>
            <a:ext cx="640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059935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C5F2D"/>
                </a:solidFill>
                <a:latin typeface="Calibri"/>
              </a:rPr>
              <a:t>Botanico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325112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B1D"/>
                </a:solidFill>
                <a:latin typeface="Calibri"/>
              </a:rPr>
              <a:t>Replanta a vegetacao perdida.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745736"/>
            <a:ext cx="75895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4745736"/>
            <a:ext cx="640080" cy="713232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745736"/>
            <a:ext cx="640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864607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C5F2D"/>
                </a:solidFill>
                <a:latin typeface="Calibri"/>
              </a:rPr>
              <a:t>Construtor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129783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B1D"/>
                </a:solidFill>
                <a:latin typeface="Calibri"/>
              </a:rPr>
              <a:t>Constroi estruturas sustentaveis.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550407"/>
            <a:ext cx="75895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550407"/>
            <a:ext cx="640080" cy="713232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550407"/>
            <a:ext cx="640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669279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C5F2D"/>
                </a:solidFill>
                <a:latin typeface="Calibri"/>
              </a:rPr>
              <a:t>Guardiao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934455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B1D"/>
                </a:solidFill>
                <a:latin typeface="Calibri"/>
              </a:rPr>
              <a:t>Titulo final. Restaura o equilibrio ambiental da cidade.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E7C71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Missoes e NPCs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E7C71"/>
                </a:solidFill>
                <a:latin typeface="Calibri"/>
              </a:rPr>
              <a:t>Nivel N possui N NPCs e N missoes - 1 missao por NPC (total: 15)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86000"/>
            <a:ext cx="36576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COMO FUNCIONA O NPC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43200"/>
            <a:ext cx="32918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1B2B1D"/>
                </a:solidFill>
                <a:latin typeface="Calibri"/>
              </a:rPr>
              <a:t>- Entrega 1 missao ecologica</a:t>
            </a:r>
          </a:p>
          <a:p>
            <a:pPr algn="l"/>
            <a:r>
              <a:rPr sz="1250" b="0">
                <a:solidFill>
                  <a:srgbClr val="1B2B1D"/>
                </a:solidFill>
                <a:latin typeface="Calibri"/>
              </a:rPr>
              <a:t>- Interacao direta e mecanica</a:t>
            </a:r>
          </a:p>
          <a:p>
            <a:pPr algn="l"/>
            <a:r>
              <a:rPr sz="1250" b="0">
                <a:solidFill>
                  <a:srgbClr val="1B2B1D"/>
                </a:solidFill>
                <a:latin typeface="Calibri"/>
              </a:rPr>
              <a:t>- Sem dialogos longos</a:t>
            </a:r>
          </a:p>
          <a:p>
            <a:pPr algn="l"/>
            <a:r>
              <a:rPr sz="1250" b="0">
                <a:solidFill>
                  <a:srgbClr val="1B2B1D"/>
                </a:solidFill>
                <a:latin typeface="Calibri"/>
              </a:rPr>
              <a:t>- Registra a conclusao</a:t>
            </a:r>
          </a:p>
          <a:p>
            <a:pPr algn="l"/>
            <a:r>
              <a:rPr sz="1250" b="0">
                <a:solidFill>
                  <a:srgbClr val="1B2B1D"/>
                </a:solidFill>
                <a:latin typeface="Calibri"/>
              </a:rPr>
              <a:t>- Libera o avanco do jogador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2286000"/>
            <a:ext cx="36576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24231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TIPOS DE MISSAO ECOLOGICA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743200"/>
            <a:ext cx="32918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1B2B1D"/>
                </a:solidFill>
                <a:latin typeface="Calibri"/>
              </a:rPr>
              <a:t>- Plantar sementes / replantar</a:t>
            </a:r>
          </a:p>
          <a:p>
            <a:pPr algn="l"/>
            <a:r>
              <a:rPr sz="1250" b="0">
                <a:solidFill>
                  <a:srgbClr val="1B2B1D"/>
                </a:solidFill>
                <a:latin typeface="Calibri"/>
              </a:rPr>
              <a:t>- Despoluir rios e lagos</a:t>
            </a:r>
          </a:p>
          <a:p>
            <a:pPr algn="l"/>
            <a:r>
              <a:rPr sz="1250" b="0">
                <a:solidFill>
                  <a:srgbClr val="1B2B1D"/>
                </a:solidFill>
                <a:latin typeface="Calibri"/>
              </a:rPr>
              <a:t>- Filtrar o ar</a:t>
            </a:r>
          </a:p>
          <a:p>
            <a:pPr algn="l"/>
            <a:r>
              <a:rPr sz="1250" b="0">
                <a:solidFill>
                  <a:srgbClr val="1B2B1D"/>
                </a:solidFill>
                <a:latin typeface="Calibri"/>
              </a:rPr>
              <a:t>- Construir parques e captacao</a:t>
            </a:r>
          </a:p>
          <a:p>
            <a:pPr algn="l"/>
            <a:r>
              <a:rPr sz="1250" b="0">
                <a:solidFill>
                  <a:srgbClr val="1B2B1D"/>
                </a:solidFill>
                <a:latin typeface="Calibri"/>
              </a:rPr>
              <a:t>- Inaugurar reservas naturais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663440"/>
            <a:ext cx="1828800" cy="155448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75488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150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7BC62"/>
                </a:solidFill>
                <a:latin typeface="Calibri"/>
              </a:rPr>
              <a:t>missoes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97480" y="4663440"/>
            <a:ext cx="1828800" cy="155448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475488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57150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7BC62"/>
                </a:solidFill>
                <a:latin typeface="Calibri"/>
              </a:rPr>
              <a:t>NPCs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4663440"/>
            <a:ext cx="1828800" cy="155448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475488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57150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7BC62"/>
                </a:solidFill>
                <a:latin typeface="Calibri"/>
              </a:rPr>
              <a:t>niveis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4663440"/>
            <a:ext cx="1828800" cy="155448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475488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57150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7BC62"/>
                </a:solidFill>
                <a:latin typeface="Calibri"/>
              </a:rPr>
              <a:t>missao por NPC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E7C71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Sistema de Pontuacao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260604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2C5F2D"/>
                </a:solidFill>
                <a:latin typeface="Calibri"/>
              </a:rPr>
              <a:t>Pontuacao Base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2606040"/>
            <a:ext cx="2148840" cy="777240"/>
          </a:xfrm>
          <a:prstGeom prst="roundRect">
            <a:avLst/>
          </a:prstGeom>
          <a:solidFill>
            <a:srgbClr val="142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0604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6AD18A"/>
                </a:solidFill>
                <a:latin typeface="Consolas"/>
              </a:rPr>
              <a:t>nivel x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Sobe com a dificuldade. Nivel 1 = 100 / Nivel 5 = 500.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828800"/>
            <a:ext cx="260604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201168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2C5F2D"/>
                </a:solidFill>
                <a:latin typeface="Calibri"/>
              </a:rPr>
              <a:t>Bonus Eficiencia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94760" y="2606040"/>
            <a:ext cx="2148840" cy="777240"/>
          </a:xfrm>
          <a:prstGeom prst="roundRect">
            <a:avLst/>
          </a:prstGeom>
          <a:solidFill>
            <a:srgbClr val="142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260604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6AD18A"/>
                </a:solidFill>
                <a:latin typeface="Consolas"/>
              </a:rPr>
              <a:t>+ 50 pontos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56616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Cumprir a missao dentro do limite de turnos.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79" y="1828800"/>
            <a:ext cx="260604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79" y="201168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2C5F2D"/>
                </a:solidFill>
                <a:latin typeface="Calibri"/>
              </a:rPr>
              <a:t>Bonus Classe Ideal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79" y="2606040"/>
            <a:ext cx="2148840" cy="777240"/>
          </a:xfrm>
          <a:prstGeom prst="roundRect">
            <a:avLst/>
          </a:prstGeom>
          <a:solidFill>
            <a:srgbClr val="142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79" y="260604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6AD18A"/>
                </a:solidFill>
                <a:latin typeface="Consolas"/>
              </a:rPr>
              <a:t>nivel x 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356616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Usar a classe adequada para o tipo de missao.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349240"/>
            <a:ext cx="7589520" cy="86868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349240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onsolas"/>
              </a:rPr>
              <a:t>Total = (nivel x 100) + bonus eficiencia + bonus classe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E7C71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6AD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AD18A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Demonstracao do Jogo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3657600" cy="2331720"/>
          </a:xfrm>
          <a:prstGeom prst="roundRect">
            <a:avLst/>
          </a:prstGeom>
          <a:solidFill>
            <a:srgbClr val="0A140B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AD18A"/>
                </a:solidFill>
                <a:latin typeface="Consolas"/>
              </a:rPr>
              <a:t>$ MENU PRINCIPAL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3383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+==================================+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|          ECOCITY - RPG           |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+==================================+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|  [1] Iniciar Jogo                |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|  [2] Instrucoes                  |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|  [3] Creditos                    |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|  [4] Sair                        |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+==================================+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 Sua escolha: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828800"/>
            <a:ext cx="3657600" cy="2331720"/>
          </a:xfrm>
          <a:prstGeom prst="roundRect">
            <a:avLst/>
          </a:prstGeom>
          <a:solidFill>
            <a:srgbClr val="0A140B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1920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AD18A"/>
                </a:solidFill>
                <a:latin typeface="Consolas"/>
              </a:rPr>
              <a:t>$ ENREDO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240280"/>
            <a:ext cx="3383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============================================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    E C O C I T Y  -  E N R E D O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============================================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A cidade foi devastada pela poluicao,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pelo desmatamento e por conflitos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ambientais.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/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Voce decide mudar esse destino...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297680"/>
            <a:ext cx="3657600" cy="2331720"/>
          </a:xfrm>
          <a:prstGeom prst="roundRect">
            <a:avLst/>
          </a:prstGeom>
          <a:solidFill>
            <a:srgbClr val="0A140B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891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AD18A"/>
                </a:solidFill>
                <a:latin typeface="Consolas"/>
              </a:rPr>
              <a:t>$ MISSAO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709160"/>
            <a:ext cx="3383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&gt; NPC 2.1 tem uma missao para voce.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 Missao: Despoluir as aguas do rio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 Limite: 5 turnos (para bonus)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 Como cumprir a missao?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  [1] Classe ideal (eficiente)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  [2] Abordagem comum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  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60" y="4297680"/>
            <a:ext cx="3657600" cy="2331720"/>
          </a:xfrm>
          <a:prstGeom prst="roundRect">
            <a:avLst/>
          </a:prstGeom>
          <a:solidFill>
            <a:srgbClr val="0A140B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43891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AD18A"/>
                </a:solidFill>
                <a:latin typeface="Consolas"/>
              </a:rPr>
              <a:t>$ FIM DE JOGO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4709160"/>
            <a:ext cx="3383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F I M   D E   J O G O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============================================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A cidade respira de novo.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Os rios correm limpos.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/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Heroi conquistou o titulo de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GUARDIAO DA NATUREZA.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Pontos: 7625  |  Missoes: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BB0A0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BB0A0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Estrutura do Codigo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E7C71"/>
                </a:solidFill>
                <a:latin typeface="Calibri"/>
              </a:rPr>
              <a:t>14 arquivos .java organizados em 7 pacotes - cada um com 1 responsabilidade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77440"/>
            <a:ext cx="75895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7744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C5F2D"/>
                </a:solidFill>
                <a:latin typeface="Consolas"/>
              </a:rPr>
              <a:t>Main.java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37744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B2B1D"/>
                </a:solidFill>
                <a:latin typeface="Calibri"/>
              </a:rPr>
              <a:t>ponto de entrada do jogo (menu)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926080"/>
            <a:ext cx="75895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92608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92608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C5F2D"/>
                </a:solidFill>
                <a:latin typeface="Consolas"/>
              </a:rPr>
              <a:t>ui/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92608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B2B1D"/>
                </a:solidFill>
                <a:latin typeface="Calibri"/>
              </a:rPr>
              <a:t>Terminal: limpa tela + aguarda ENTER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74720"/>
            <a:ext cx="75895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4747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47472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C5F2D"/>
                </a:solidFill>
                <a:latin typeface="Consolas"/>
              </a:rPr>
              <a:t>personagens/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47472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B2B1D"/>
                </a:solidFill>
                <a:latin typeface="Calibri"/>
              </a:rPr>
              <a:t>Personagem (abstrata) + 5 niveis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23360"/>
            <a:ext cx="75895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02336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02336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C5F2D"/>
                </a:solidFill>
                <a:latin typeface="Consolas"/>
              </a:rPr>
              <a:t>missoes/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02336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B2B1D"/>
                </a:solidFill>
                <a:latin typeface="Calibri"/>
              </a:rPr>
              <a:t>Interface Missao + MissaoEcologica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572000"/>
            <a:ext cx="75895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57200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457200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C5F2D"/>
                </a:solidFill>
                <a:latin typeface="Consolas"/>
              </a:rPr>
              <a:t>npc/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457200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B2B1D"/>
                </a:solidFill>
                <a:latin typeface="Calibri"/>
              </a:rPr>
              <a:t>NPC entrega missoes ao jogador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120640"/>
            <a:ext cx="75895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2064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12064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C5F2D"/>
                </a:solidFill>
                <a:latin typeface="Consolas"/>
              </a:rPr>
              <a:t>sistema/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31920" y="512064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B2B1D"/>
                </a:solidFill>
                <a:latin typeface="Calibri"/>
              </a:rPr>
              <a:t>Jogo (orquestra) + Pontuacao (calcula)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669279"/>
            <a:ext cx="75895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5669279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5669279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C5F2D"/>
                </a:solidFill>
                <a:latin typeface="Consolas"/>
              </a:rPr>
              <a:t>excecoes/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5669279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B2B1D"/>
                </a:solidFill>
                <a:latin typeface="Calibri"/>
              </a:rPr>
              <a:t>EntradaInvalidaException (customizada)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E7C71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Conceitos de O.O. e Hierarquia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C5F2D"/>
                </a:solidFill>
                <a:latin typeface="Calibri"/>
              </a:rPr>
              <a:t>9 CONCEITOS APLICADOS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359152"/>
            <a:ext cx="146304" cy="146304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B2B1D"/>
                </a:solidFill>
                <a:latin typeface="Calibri"/>
              </a:rPr>
              <a:t>Encapsulamento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43200"/>
            <a:ext cx="146304" cy="146304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62432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B2B1D"/>
                </a:solidFill>
                <a:latin typeface="Calibri"/>
              </a:rPr>
              <a:t>Construtores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127248"/>
            <a:ext cx="146304" cy="146304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0083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B2B1D"/>
                </a:solidFill>
                <a:latin typeface="Calibri"/>
              </a:rPr>
              <a:t>Heranca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511296"/>
            <a:ext cx="146304" cy="146304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39242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B2B1D"/>
                </a:solidFill>
                <a:latin typeface="Calibri"/>
              </a:rPr>
              <a:t>Sobrecarga (overload)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895344"/>
            <a:ext cx="146304" cy="146304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77647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B2B1D"/>
                </a:solidFill>
                <a:latin typeface="Calibri"/>
              </a:rPr>
              <a:t>Sobrescrita (override)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4279392"/>
            <a:ext cx="146304" cy="146304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160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B2B1D"/>
                </a:solidFill>
                <a:latin typeface="Calibri"/>
              </a:rPr>
              <a:t>Classe Abstrata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4663440"/>
            <a:ext cx="146304" cy="146304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445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B2B1D"/>
                </a:solidFill>
                <a:latin typeface="Calibri"/>
              </a:rPr>
              <a:t>Metodo Abstrato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5047488"/>
            <a:ext cx="146304" cy="146304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92861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B2B1D"/>
                </a:solidFill>
                <a:latin typeface="Calibri"/>
              </a:rPr>
              <a:t>Interface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" y="5431536"/>
            <a:ext cx="146304" cy="146304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1266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B2B1D"/>
                </a:solidFill>
                <a:latin typeface="Calibri"/>
              </a:rPr>
              <a:t>Tratamento de Excecoes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1783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C5F2D"/>
                </a:solidFill>
                <a:latin typeface="Calibri"/>
              </a:rPr>
              <a:t>HIERARQUIA DE CLASSES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52160" y="2286000"/>
            <a:ext cx="2286000" cy="64008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160" y="233172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7BC62"/>
                </a:solidFill>
                <a:latin typeface="Calibri"/>
              </a:rPr>
              <a:t>abstract class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254203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Personagem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3246120"/>
            <a:ext cx="22860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331012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97BC62"/>
                </a:solidFill>
                <a:latin typeface="Calibri"/>
              </a:rPr>
              <a:t>N1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310127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B2B1D"/>
                </a:solidFill>
                <a:latin typeface="Calibri"/>
              </a:rPr>
              <a:t>Explorador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52160" y="3749039"/>
            <a:ext cx="22860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0" y="38130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97BC62"/>
                </a:solidFill>
                <a:latin typeface="Calibri"/>
              </a:rPr>
              <a:t>N2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8130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B2B1D"/>
                </a:solidFill>
                <a:latin typeface="Calibri"/>
              </a:rPr>
              <a:t>Descontamin.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52160" y="4251960"/>
            <a:ext cx="22860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0" y="43159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97BC62"/>
                </a:solidFill>
                <a:latin typeface="Calibri"/>
              </a:rPr>
              <a:t>N3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3159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B2B1D"/>
                </a:solidFill>
                <a:latin typeface="Calibri"/>
              </a:rPr>
              <a:t>Botanico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52160" y="4754880"/>
            <a:ext cx="22860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48188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97BC62"/>
                </a:solidFill>
                <a:latin typeface="Calibri"/>
              </a:rPr>
              <a:t>N4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81888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B2B1D"/>
                </a:solidFill>
                <a:latin typeface="Calibri"/>
              </a:rPr>
              <a:t>Construtor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852160" y="5257800"/>
            <a:ext cx="22860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0" y="53218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97BC62"/>
                </a:solidFill>
                <a:latin typeface="Calibri"/>
              </a:rPr>
              <a:t>N5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321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B2B1D"/>
                </a:solidFill>
                <a:latin typeface="Calibri"/>
              </a:rPr>
              <a:t>Guardiao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09160" y="58064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E7C71"/>
                </a:solidFill>
                <a:latin typeface="Calibri"/>
              </a:rPr>
              <a:t>5 subclasses herdam de Personagem (abstrata).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E7C71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6AD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AD18A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Em Codigo  -  Entrega e Encerramento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AD18A"/>
                </a:solidFill>
                <a:latin typeface="Calibri"/>
              </a:rPr>
              <a:t>EXEMPLO: TRATAMENTO DE EXCECAO NO MENU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40280"/>
            <a:ext cx="7589520" cy="2286000"/>
          </a:xfrm>
          <a:prstGeom prst="roundRect">
            <a:avLst/>
          </a:prstGeom>
          <a:solidFill>
            <a:srgbClr val="0A140B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77440"/>
            <a:ext cx="7315200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AD18A"/>
                </a:solidFill>
                <a:latin typeface="Consolas"/>
              </a:rPr>
              <a:t>try {</a:t>
            </a:r>
          </a:p>
          <a:p>
            <a:pPr algn="l"/>
            <a:r>
              <a:rPr sz="1150" b="0">
                <a:solidFill>
                  <a:srgbClr val="6AD18A"/>
                </a:solidFill>
                <a:latin typeface="Consolas"/>
              </a:rPr>
              <a:t>    int opcao = Integer.parseInt(scanner.nextLine().trim());</a:t>
            </a:r>
          </a:p>
          <a:p>
            <a:pPr algn="l"/>
            <a:r>
              <a:rPr sz="1150" b="0">
                <a:solidFill>
                  <a:srgbClr val="6AD18A"/>
                </a:solidFill>
                <a:latin typeface="Consolas"/>
              </a:rPr>
              <a:t>    if (opcao &lt; 1 || opcao &gt; 4)</a:t>
            </a:r>
          </a:p>
          <a:p>
            <a:pPr algn="l"/>
            <a:r>
              <a:rPr sz="1150" b="0">
                <a:solidFill>
                  <a:srgbClr val="6AD18A"/>
                </a:solidFill>
                <a:latin typeface="Consolas"/>
              </a:rPr>
              <a:t>        throw new EntradaInvalidaException("Opcao invalida.");</a:t>
            </a:r>
          </a:p>
          <a:p>
            <a:pPr algn="l"/>
            <a:r>
              <a:rPr sz="1150" b="0">
                <a:solidFill>
                  <a:srgbClr val="6AD18A"/>
                </a:solidFill>
                <a:latin typeface="Consolas"/>
              </a:rPr>
              <a:t>    // ... executa a opcao escolhida ...</a:t>
            </a:r>
          </a:p>
          <a:p>
            <a:pPr algn="l"/>
            <a:r>
              <a:rPr sz="1150" b="0">
                <a:solidFill>
                  <a:srgbClr val="6AD18A"/>
                </a:solidFill>
                <a:latin typeface="Consolas"/>
              </a:rPr>
              <a:t>} catch (NumberFormatException e) {</a:t>
            </a:r>
          </a:p>
          <a:p>
            <a:pPr algn="l"/>
            <a:r>
              <a:rPr sz="1150" b="0">
                <a:solidFill>
                  <a:srgbClr val="6AD18A"/>
                </a:solidFill>
                <a:latin typeface="Consolas"/>
              </a:rPr>
              <a:t>    System.out.println("[ERRO] Digite apenas numeros.");</a:t>
            </a:r>
          </a:p>
          <a:p>
            <a:pPr algn="l"/>
            <a:r>
              <a:rPr sz="1150" b="0">
                <a:solidFill>
                  <a:srgbClr val="6AD18A"/>
                </a:solidFill>
                <a:latin typeface="Consolas"/>
              </a:rPr>
              <a:t>} catch (EntradaInvalidaException e) {</a:t>
            </a:r>
          </a:p>
          <a:p>
            <a:pPr algn="l"/>
            <a:r>
              <a:rPr sz="1150" b="0">
                <a:solidFill>
                  <a:srgbClr val="6AD18A"/>
                </a:solidFill>
                <a:latin typeface="Consolas"/>
              </a:rPr>
              <a:t>    System.out.println("[ERRO] " + e.getMessage());</a:t>
            </a:r>
          </a:p>
          <a:p>
            <a:pPr algn="l"/>
            <a:r>
              <a:rPr sz="1150" b="0">
                <a:solidFill>
                  <a:srgbClr val="6AD18A"/>
                </a:solidFill>
                <a:latin typeface="Consolas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754880"/>
            <a:ext cx="7589520" cy="137160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463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7BC62"/>
                </a:solidFill>
                <a:latin typeface="Calibri"/>
              </a:rPr>
              <a:t>REPOSITORIO PUBLICO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12064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onsolas"/>
              </a:rPr>
              <a:t>github.com/BielmFranco/EcoCity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6235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AD18A"/>
                </a:solidFill>
                <a:latin typeface="Calibri"/>
              </a:rPr>
              <a:t>Obrigado!  -  EcoCity, APS UNIP 2026/1.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BB0A0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BB0A0"/>
                </a:solidFill>
                <a:latin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