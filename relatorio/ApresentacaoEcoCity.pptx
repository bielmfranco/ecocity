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8079" y="-731520"/>
            <a:ext cx="2743200" cy="2743200"/>
          </a:xfrm>
          <a:prstGeom prst="ellipse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029200"/>
            <a:ext cx="4114800" cy="41148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731520" y="5669280"/>
            <a:ext cx="2743200" cy="2743200"/>
          </a:xfrm>
          <a:prstGeom prst="ellipse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7BC62"/>
                </a:solidFill>
                <a:latin typeface="Calibri"/>
              </a:rPr>
              <a:t>APS UNIP 2026/1  -  LPOO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>
                <a:solidFill>
                  <a:srgbClr val="FFFFFF"/>
                </a:solidFill>
                <a:latin typeface="Calibri"/>
              </a:rPr>
              <a:t>EcoCity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004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6AD18A"/>
                </a:solidFill>
                <a:latin typeface="Calibri"/>
              </a:rPr>
              <a:t>RPG Textual em Java  -  Conscientizacao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94760"/>
            <a:ext cx="822960" cy="457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023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8DAC0"/>
                </a:solidFill>
                <a:latin typeface="Calibri"/>
              </a:rPr>
              <a:t>Universidade Paulista  -  Ciencia da Computacao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43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BB0A0"/>
                </a:solidFill>
                <a:latin typeface="Calibri"/>
              </a:rPr>
              <a:t>Orientador: Prof. Carlos Baltazar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GRUPO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4924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Alessandra Cristina da Silva Souza  -  R799565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Caetano de Paula Telles Ribeiro     -  R688GC4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Jhonnatan Pereira Santos            -  R363JH0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Guilherme Moraes Franco             -  H386632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Gabriel Moraes Franco               -  H384338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NAVEGACAO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Sumario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8745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Objetivo do Projeto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60604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6517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Enredo do Jogo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8328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429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Tecnologias Utilizadas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60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06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Niveis e Evolucao do Personagem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937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9834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Missoes e NPCs</a:t>
            </a:r>
          </a:p>
        </p:txBody>
      </p:sp>
      <p:sp>
        <p:nvSpPr>
          <p:cNvPr id="20" name="Oval 19"/>
          <p:cNvSpPr/>
          <p:nvPr/>
        </p:nvSpPr>
        <p:spPr>
          <a:xfrm>
            <a:off x="4937760" y="182880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1828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18745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Sistema de Pontuacao</a:t>
            </a:r>
          </a:p>
        </p:txBody>
      </p:sp>
      <p:sp>
        <p:nvSpPr>
          <p:cNvPr id="23" name="Oval 22"/>
          <p:cNvSpPr/>
          <p:nvPr/>
        </p:nvSpPr>
        <p:spPr>
          <a:xfrm>
            <a:off x="4937760" y="260604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0" y="26060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26517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Demonstracao do Jogo</a:t>
            </a:r>
          </a:p>
        </p:txBody>
      </p:sp>
      <p:sp>
        <p:nvSpPr>
          <p:cNvPr id="26" name="Oval 25"/>
          <p:cNvSpPr/>
          <p:nvPr/>
        </p:nvSpPr>
        <p:spPr>
          <a:xfrm>
            <a:off x="4937760" y="338328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33832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3429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Estrutura do Codigo</a:t>
            </a:r>
          </a:p>
        </p:txBody>
      </p:sp>
      <p:sp>
        <p:nvSpPr>
          <p:cNvPr id="29" name="Oval 28"/>
          <p:cNvSpPr/>
          <p:nvPr/>
        </p:nvSpPr>
        <p:spPr>
          <a:xfrm>
            <a:off x="4937760" y="416052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41605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4206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Conceitos de O.O. e Hierarquia</a:t>
            </a:r>
          </a:p>
        </p:txBody>
      </p:sp>
      <p:sp>
        <p:nvSpPr>
          <p:cNvPr id="32" name="Oval 31"/>
          <p:cNvSpPr/>
          <p:nvPr/>
        </p:nvSpPr>
        <p:spPr>
          <a:xfrm>
            <a:off x="4937760" y="49377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4937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49834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B1D"/>
                </a:solidFill>
                <a:latin typeface="Calibri"/>
              </a:rPr>
              <a:t>Exemplo de Codigo e Entrega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Objetivo do Projeto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931920" cy="411480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7BC62"/>
                </a:solidFill>
                <a:latin typeface="Calibri"/>
              </a:rPr>
              <a:t>META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3657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Aplicar Programacao Orientada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 Objetos no desenvolvimento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 um RPG textual em Java,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57200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AD18A"/>
                </a:solidFill>
                <a:latin typeface="Calibri"/>
              </a:rPr>
              <a:t>promovendo a conscientizacao</a:t>
            </a:r>
          </a:p>
          <a:p>
            <a:pPr algn="l"/>
            <a:r>
              <a:rPr sz="1600" b="0">
                <a:solidFill>
                  <a:srgbClr val="6AD18A"/>
                </a:solidFill>
                <a:latin typeface="Calibri"/>
              </a:rPr>
              <a:t>ambiental atraves de</a:t>
            </a:r>
          </a:p>
          <a:p>
            <a:pPr algn="l"/>
            <a:r>
              <a:rPr sz="1600" b="0">
                <a:solidFill>
                  <a:srgbClr val="6AD18A"/>
                </a:solidFill>
                <a:latin typeface="Calibri"/>
              </a:rPr>
              <a:t>mecanicas de jogo.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874519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ENTREGAS TECNICAS</a:t>
            </a:r>
          </a:p>
        </p:txBody>
      </p:sp>
      <p:sp>
        <p:nvSpPr>
          <p:cNvPr id="10" name="Oval 9"/>
          <p:cNvSpPr/>
          <p:nvPr/>
        </p:nvSpPr>
        <p:spPr>
          <a:xfrm>
            <a:off x="5120640" y="249631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331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RPG textual rodando no console</a:t>
            </a:r>
          </a:p>
        </p:txBody>
      </p:sp>
      <p:sp>
        <p:nvSpPr>
          <p:cNvPr id="12" name="Oval 11"/>
          <p:cNvSpPr/>
          <p:nvPr/>
        </p:nvSpPr>
        <p:spPr>
          <a:xfrm>
            <a:off x="5120640" y="304495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880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5 niveis de evolucao do personagem</a:t>
            </a:r>
          </a:p>
        </p:txBody>
      </p:sp>
      <p:sp>
        <p:nvSpPr>
          <p:cNvPr id="14" name="Oval 13"/>
          <p:cNvSpPr/>
          <p:nvPr/>
        </p:nvSpPr>
        <p:spPr>
          <a:xfrm>
            <a:off x="5120640" y="359359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429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15 missoes ecologicas tematicas</a:t>
            </a:r>
          </a:p>
        </p:txBody>
      </p:sp>
      <p:sp>
        <p:nvSpPr>
          <p:cNvPr id="16" name="Oval 15"/>
          <p:cNvSpPr/>
          <p:nvPr/>
        </p:nvSpPr>
        <p:spPr>
          <a:xfrm>
            <a:off x="5120640" y="4142231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97763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Sistema de pontuacao com bonus</a:t>
            </a:r>
          </a:p>
        </p:txBody>
      </p:sp>
      <p:sp>
        <p:nvSpPr>
          <p:cNvPr id="18" name="Oval 17"/>
          <p:cNvSpPr/>
          <p:nvPr/>
        </p:nvSpPr>
        <p:spPr>
          <a:xfrm>
            <a:off x="5120640" y="4690871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452627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9 conceitos de O.O. aplicados</a:t>
            </a:r>
          </a:p>
        </p:txBody>
      </p:sp>
      <p:sp>
        <p:nvSpPr>
          <p:cNvPr id="20" name="Oval 19"/>
          <p:cNvSpPr/>
          <p:nvPr/>
        </p:nvSpPr>
        <p:spPr>
          <a:xfrm>
            <a:off x="5120640" y="523951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5074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Tratamento de excecoes (try-catch)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Enredo do Jogo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7772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 historia se passa em uma cidade devastada pela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poluicao, pelo desmatamento e por conflitos ambientais.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C8DAC0"/>
                </a:solidFill>
                <a:latin typeface="Calibri"/>
              </a:rPr>
              <a:t>O jogador deve cumprir missoes ecologicas para restaurar o</a:t>
            </a:r>
          </a:p>
          <a:p>
            <a:pPr algn="l"/>
            <a:r>
              <a:rPr sz="1500" b="0">
                <a:solidFill>
                  <a:srgbClr val="C8DAC0"/>
                </a:solidFill>
                <a:latin typeface="Calibri"/>
              </a:rPr>
              <a:t>equilibrio ambiental, evoluindo progressivamente do nivel</a:t>
            </a:r>
          </a:p>
          <a:p>
            <a:pPr algn="l"/>
            <a:r>
              <a:rPr sz="1500" b="0">
                <a:solidFill>
                  <a:srgbClr val="C8DAC0"/>
                </a:solidFill>
                <a:latin typeface="Calibri"/>
              </a:rPr>
              <a:t>1 (Explorador) ate alcancar o titulo de Guardiao da Natureza.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Explorador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Descontaminador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Botanico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Construtor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2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Guardiao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BB0A0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Tecnologias Utilizadas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2103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94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Java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80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Linguagem orientada a objetos. JDK Microsoft OpenJDK 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0" y="2103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103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194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Console / Terminal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Interface textual. Encoding UTF-8 e escape ANSI.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389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389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Git +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166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Versionamento e hospedagem publica do projeto.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4114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46320" y="4389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389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Markdown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166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Documentacao tecnica: README e TUTORIAL.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Niveis e Evolucao do Personagem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C71"/>
                </a:solidFill>
                <a:latin typeface="Calibri"/>
              </a:rPr>
              <a:t>5 niveis progressivos - o jogador evolui ao completar todas as missoes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75895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640080" cy="713232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450591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Explorador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15768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Iniciante. Descobre o que restou da natureza.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136391"/>
            <a:ext cx="75895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136391"/>
            <a:ext cx="640080" cy="713232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36391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25526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Descontaminador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520439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Limpa solo, agua e ar da cidade.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41063"/>
            <a:ext cx="75895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941063"/>
            <a:ext cx="640080" cy="713232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41063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059935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Botanico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325112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Replanta a vegetacao perdida.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45736"/>
            <a:ext cx="75895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745736"/>
            <a:ext cx="640080" cy="713232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45736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864607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Construtor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129783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Constroi estruturas sustentaveis.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550407"/>
            <a:ext cx="75895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550407"/>
            <a:ext cx="640080" cy="713232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50407"/>
            <a:ext cx="640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669279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Guardiao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934455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Titulo final. Restaura o equilibrio ambiental da cidade.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Missoes e NPCs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E7C71"/>
                </a:solidFill>
                <a:latin typeface="Calibri"/>
              </a:rPr>
              <a:t>Nivel N possui N NPCs e N missoes - 1 missao por NPC (total: 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3657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COMO FUNCIONA O NPC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3291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Entrega 1 missao ecologica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Interacao direta e mecanica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Sem dialogos longos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Registra a conclusao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Libera o avanco do jogador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2286000"/>
            <a:ext cx="36576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423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TIPOS DE MISSAO ECOLOGICA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291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Plantar sementes / replantar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Despoluir rios e lagos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Filtrar o ar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Construir parques e captacao</a:t>
            </a:r>
          </a:p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- Inaugurar reservas naturais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663440"/>
            <a:ext cx="1828800" cy="15544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15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7BC62"/>
                </a:solidFill>
                <a:latin typeface="Calibri"/>
              </a:rPr>
              <a:t>missoes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97480" y="4663440"/>
            <a:ext cx="1828800" cy="15544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47548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5715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7BC62"/>
                </a:solidFill>
                <a:latin typeface="Calibri"/>
              </a:rPr>
              <a:t>NPCs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4663440"/>
            <a:ext cx="1828800" cy="15544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7548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715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7BC62"/>
                </a:solidFill>
                <a:latin typeface="Calibri"/>
              </a:rPr>
              <a:t>niveis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4663440"/>
            <a:ext cx="1828800" cy="15544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75488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715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7BC62"/>
                </a:solidFill>
                <a:latin typeface="Calibri"/>
              </a:rPr>
              <a:t>missao por NPC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Sistema de Pontuacao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26060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C5F2D"/>
                </a:solidFill>
                <a:latin typeface="Calibri"/>
              </a:rPr>
              <a:t>Pontuacao 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606040"/>
            <a:ext cx="2148840" cy="77724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0604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6AD18A"/>
                </a:solidFill>
                <a:latin typeface="Consolas"/>
              </a:rPr>
              <a:t>nivel x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Sobe com a dificuldade. Nivel 1 = 100 / Nivel 5 = 500.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6060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011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C5F2D"/>
                </a:solidFill>
                <a:latin typeface="Calibri"/>
              </a:rPr>
              <a:t>Bonus Eficiencia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2606040"/>
            <a:ext cx="2148840" cy="77724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60604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6AD18A"/>
                </a:solidFill>
                <a:latin typeface="Consolas"/>
              </a:rPr>
              <a:t>+ 50 pontos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56616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Cumprir a missao dentro do limite de turnos.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79" y="1828800"/>
            <a:ext cx="26060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79" y="2011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C5F2D"/>
                </a:solidFill>
                <a:latin typeface="Calibri"/>
              </a:rPr>
              <a:t>Bonus Classe Ideal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79" y="2606040"/>
            <a:ext cx="2148840" cy="77724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9" y="260604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6AD18A"/>
                </a:solidFill>
                <a:latin typeface="Consolas"/>
              </a:rPr>
              <a:t>nivel x 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56616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Usar a classe adequada para o tipo de missao.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349240"/>
            <a:ext cx="7589520" cy="8686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349240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onsolas"/>
              </a:rPr>
              <a:t>Total = (nivel x 100) + bonus eficiencia + bonus classe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Demonstracao do Jogo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MENU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+==================================+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        ECOCITY - RPG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+==================================+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[1] Iniciar Jogo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[2] Instrucoes  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[3] Creditos    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[4] Sair        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+==================================+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Sua escolha: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82880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920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ENREDO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4028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============================================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  E C O C I T Y  -  E N R E D O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============================================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A cidade foi devastada pela poluicao,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pelo desmatamento e por conflitos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ambientais.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/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Voce decide mudar esse destino...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29768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MISSAO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&gt; NPC 2.1 tem uma missao para voce.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Missao: Despoluir as aguas do rio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Limite: 5 turnos (para bonus)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Como cumprir a missao?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[1] Classe ideal (eficiente)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[2] Abordagem comum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429768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4389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FIM DE JOGO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70916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F I M   D E   J O G O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============================================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A cidade respira de novo.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Os rios correm limpos.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/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Heroi conquistou o titulo de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GUARDIAO DA NATUREZA.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Pontos: 7625  |  Missoes: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BB0A0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Estrutura do Codigo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C71"/>
                </a:solidFill>
                <a:latin typeface="Calibri"/>
              </a:rPr>
              <a:t>14 arquivos .java em 7 pacotes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7744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7744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Main.java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37744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ponto de entrada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92608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92608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9260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ui/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92608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tela e entrada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7472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4747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47472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personagens/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47472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Personagem + 5 niveis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2336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2336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02336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missoes/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02336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interface + missao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57200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7200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5720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npc/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57200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entrega missoes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120640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2064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1206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sistema/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512064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Jogo + Pontuacao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669279"/>
            <a:ext cx="75895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5669279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669279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onsolas"/>
              </a:rPr>
              <a:t>excecoes/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5669279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excecao customizada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Conceitos de O.O. e Hierarquia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9 CONCEITOS APLICADOS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359152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Encapsulamento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43200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243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Construtores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27248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083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Heranca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511296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3924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Sobrecarga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895344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7764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Sobrescrita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279392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60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Classe Abstrata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4663440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Metodo Abstrato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5047488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92861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Interface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5431536"/>
            <a:ext cx="146304" cy="146304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B2B1D"/>
                </a:solidFill>
                <a:latin typeface="Calibri"/>
              </a:rPr>
              <a:t>Excecoes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HIERARQUIA DE CLASSES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2286000"/>
            <a:ext cx="2286000" cy="6400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0" y="23317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7BC62"/>
                </a:solidFill>
                <a:latin typeface="Calibri"/>
              </a:rPr>
              <a:t>abstract class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25420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Personagem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3246120"/>
            <a:ext cx="22860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331012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BC62"/>
                </a:solidFill>
                <a:latin typeface="Calibri"/>
              </a:rPr>
              <a:t>N1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310127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B1D"/>
                </a:solidFill>
                <a:latin typeface="Calibri"/>
              </a:rPr>
              <a:t>Explorador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52160" y="3749039"/>
            <a:ext cx="22860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0" y="38130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BC62"/>
                </a:solidFill>
                <a:latin typeface="Calibri"/>
              </a:rPr>
              <a:t>N2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130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B1D"/>
                </a:solidFill>
                <a:latin typeface="Calibri"/>
              </a:rPr>
              <a:t>Descontamin.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52160" y="4251960"/>
            <a:ext cx="22860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43159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BC62"/>
                </a:solidFill>
                <a:latin typeface="Calibri"/>
              </a:rPr>
              <a:t>N3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3159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B1D"/>
                </a:solidFill>
                <a:latin typeface="Calibri"/>
              </a:rPr>
              <a:t>Botanico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52160" y="4754880"/>
            <a:ext cx="22860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BC62"/>
                </a:solidFill>
                <a:latin typeface="Calibri"/>
              </a:rPr>
              <a:t>N4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8188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B1D"/>
                </a:solidFill>
                <a:latin typeface="Calibri"/>
              </a:rPr>
              <a:t>Construtor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52160" y="5257800"/>
            <a:ext cx="22860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53218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BC62"/>
                </a:solidFill>
                <a:latin typeface="Calibri"/>
              </a:rPr>
              <a:t>N5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321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B2B1D"/>
                </a:solidFill>
                <a:latin typeface="Calibri"/>
              </a:rPr>
              <a:t>Guardiao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Codigo 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EXEMPLO: try-catch no menu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7589520" cy="228600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731520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try {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    int opcao = Integer.parseInt(scanner.nextLine());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    // executa acao do menu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} catch (NumberFormatException e) {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    System.out.println("Digite apenas numeros.");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} catch (EntradaInvalidaException e) {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    System.out.println(e.getMessage());</a:t>
            </a:r>
          </a:p>
          <a:p>
            <a:pPr algn="l"/>
            <a:r>
              <a:rPr sz="1150" b="0">
                <a:solidFill>
                  <a:srgbClr val="6AD18A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754880"/>
            <a:ext cx="7589520" cy="137160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46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7BC62"/>
                </a:solidFill>
                <a:latin typeface="Calibri"/>
              </a:rPr>
              <a:t>REPOSITORIO PUBLICO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12064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onsolas"/>
              </a:rPr>
              <a:t>github.com/BielmFranco/EcoCity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6235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AD18A"/>
                </a:solidFill>
                <a:latin typeface="Calibri"/>
              </a:rPr>
              <a:t>Clone, fork ou download ZIP - codigo aberto.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BB0A0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0" y="5029200"/>
            <a:ext cx="4114800" cy="41148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79" y="5669280"/>
            <a:ext cx="2743200" cy="2743200"/>
          </a:xfrm>
          <a:prstGeom prst="ellipse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926080"/>
            <a:ext cx="822960" cy="457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10896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6AD18A"/>
                </a:solidFill>
                <a:latin typeface="Calibri"/>
              </a:rPr>
              <a:t>Pela atencao a apresentacao do projeto EcoCity.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0332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8DAC0"/>
                </a:solidFill>
                <a:latin typeface="Calibri"/>
              </a:rPr>
              <a:t>Perguntas, sugestoes e ideias sao muito bem-vindas.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572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GRUPO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864608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onsolas"/>
              </a:rPr>
              <a:t>Alessandra Cristina da Silva Souza  -  R799565</a:t>
            </a:r>
          </a:p>
          <a:p>
            <a:pPr algn="l"/>
            <a:r>
              <a:rPr sz="1050" b="0">
                <a:solidFill>
                  <a:srgbClr val="FFFFFF"/>
                </a:solidFill>
                <a:latin typeface="Consolas"/>
              </a:rPr>
              <a:t>Caetano de Paula Telles Ribeiro     -  R688GC4</a:t>
            </a:r>
          </a:p>
          <a:p>
            <a:pPr algn="l"/>
            <a:r>
              <a:rPr sz="1050" b="0">
                <a:solidFill>
                  <a:srgbClr val="FFFFFF"/>
                </a:solidFill>
                <a:latin typeface="Consolas"/>
              </a:rPr>
              <a:t>Jhonnatan Pereira Santos            -  R363JH0</a:t>
            </a:r>
          </a:p>
          <a:p>
            <a:pPr algn="l"/>
            <a:r>
              <a:rPr sz="1050" b="0">
                <a:solidFill>
                  <a:srgbClr val="FFFFFF"/>
                </a:solidFill>
                <a:latin typeface="Consolas"/>
              </a:rPr>
              <a:t>Guilherme Moraes Franco             -  H386632</a:t>
            </a:r>
          </a:p>
          <a:p>
            <a:pPr algn="l"/>
            <a:r>
              <a:rPr sz="1050" b="0">
                <a:solidFill>
                  <a:srgbClr val="FFFFFF"/>
                </a:solidFill>
                <a:latin typeface="Consolas"/>
              </a:rPr>
              <a:t>Gabriel Moraes Franco               -  H384338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BB0A0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